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6" r:id="rId2"/>
  </p:sldMasterIdLst>
  <p:notesMasterIdLst>
    <p:notesMasterId r:id="rId14"/>
  </p:notesMasterIdLst>
  <p:handoutMasterIdLst>
    <p:handoutMasterId r:id="rId15"/>
  </p:handoutMasterIdLst>
  <p:sldIdLst>
    <p:sldId id="518" r:id="rId3"/>
    <p:sldId id="478" r:id="rId4"/>
    <p:sldId id="555" r:id="rId5"/>
    <p:sldId id="676" r:id="rId6"/>
    <p:sldId id="575" r:id="rId7"/>
    <p:sldId id="677" r:id="rId8"/>
    <p:sldId id="668" r:id="rId9"/>
    <p:sldId id="589" r:id="rId10"/>
    <p:sldId id="449" r:id="rId11"/>
    <p:sldId id="681" r:id="rId12"/>
    <p:sldId id="519" r:id="rId13"/>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0" userDrawn="1">
          <p15:clr>
            <a:srgbClr val="A4A3A4"/>
          </p15:clr>
        </p15:guide>
        <p15:guide id="2" pos="2880" userDrawn="1">
          <p15:clr>
            <a:srgbClr val="A4A3A4"/>
          </p15:clr>
        </p15:guide>
        <p15:guide id="3" pos="2976" userDrawn="1">
          <p15:clr>
            <a:srgbClr val="A4A3A4"/>
          </p15:clr>
        </p15:guide>
        <p15:guide id="4" orient="horz" pos="2352" userDrawn="1">
          <p15:clr>
            <a:srgbClr val="A4A3A4"/>
          </p15:clr>
        </p15:guide>
        <p15:guide id="5" orient="horz" pos="3048" userDrawn="1">
          <p15:clr>
            <a:srgbClr val="A4A3A4"/>
          </p15:clr>
        </p15:guide>
        <p15:guide id="6" orient="horz" pos="37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laze, Margaret" initials="GM" lastIdx="8" clrIdx="0">
    <p:extLst>
      <p:ext uri="{19B8F6BF-5375-455C-9EA6-DF929625EA0E}">
        <p15:presenceInfo xmlns:p15="http://schemas.microsoft.com/office/powerpoint/2012/main" userId="S-1-5-21-764903313-1208633371-1849977318-402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651"/>
    <a:srgbClr val="1F325C"/>
    <a:srgbClr val="F37522"/>
    <a:srgbClr val="FFFFFF"/>
    <a:srgbClr val="000D26"/>
    <a:srgbClr val="FF921F"/>
    <a:srgbClr val="6663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C62C5E-0BB6-FDD7-2E60-8FD38F6DB939}" v="3607" dt="2026-01-16T16:58:01.578"/>
    <p1510:client id="{A1565962-3C9E-1CE7-894F-F2FAE3C09618}" v="368" dt="2026-01-17T17:22:06.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80"/>
        <p:guide pos="2880"/>
        <p:guide pos="2976"/>
        <p:guide orient="horz" pos="2352"/>
        <p:guide orient="horz" pos="3048"/>
        <p:guide orient="horz" pos="374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027747-A189-872D-8A97-D4429E224C0D}"/>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416B8F-92E2-F904-F49F-28DEFEB6F0C1}"/>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50F588C1-8BF7-4DF6-9DED-67392F6662AD}" type="datetimeFigureOut">
              <a:rPr lang="en-US" smtClean="0"/>
              <a:t>1/17/2026</a:t>
            </a:fld>
            <a:endParaRPr lang="en-US"/>
          </a:p>
        </p:txBody>
      </p:sp>
      <p:sp>
        <p:nvSpPr>
          <p:cNvPr id="4" name="Footer Placeholder 3">
            <a:extLst>
              <a:ext uri="{FF2B5EF4-FFF2-40B4-BE49-F238E27FC236}">
                <a16:creationId xmlns:a16="http://schemas.microsoft.com/office/drawing/2014/main" id="{ADDE80BB-9279-F814-C56A-78A315975E44}"/>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B717B3B-15E5-0331-18C9-5046ECDBB67E}"/>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97827BE8-40FE-4B32-8B87-4B2B23079C5D}" type="slidenum">
              <a:rPr lang="en-US" smtClean="0"/>
              <a:t>‹#›</a:t>
            </a:fld>
            <a:endParaRPr lang="en-US"/>
          </a:p>
        </p:txBody>
      </p:sp>
    </p:spTree>
    <p:extLst>
      <p:ext uri="{BB962C8B-B14F-4D97-AF65-F5344CB8AC3E}">
        <p14:creationId xmlns:p14="http://schemas.microsoft.com/office/powerpoint/2010/main" val="3135500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CC82C7F-3F5F-4DD9-BE81-92F485F2F92A}" type="datetimeFigureOut">
              <a:rPr lang="en-US" smtClean="0"/>
              <a:t>1/17/2026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004B4462-8884-43E6-AAD3-930899F0F770}" type="slidenum">
              <a:rPr lang="en-US" smtClean="0"/>
              <a:t>‹#›</a:t>
            </a:fld>
            <a:endParaRPr lang="en-US"/>
          </a:p>
        </p:txBody>
      </p:sp>
    </p:spTree>
    <p:extLst>
      <p:ext uri="{BB962C8B-B14F-4D97-AF65-F5344CB8AC3E}">
        <p14:creationId xmlns:p14="http://schemas.microsoft.com/office/powerpoint/2010/main" val="192501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C660AE-763F-43B1-BEF6-1306ED6E6053}"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12148845"/>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4464178"/>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58598C-2AFD-4D03-9C2D-C0FDF9857D7F}"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0235621"/>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8E4148-FDB1-472E-B50B-AF8E1BDFB87B}"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30948680"/>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9732A1-DBFC-4680-ACE5-CF4F734F4300}" type="datetime1">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511736121"/>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25F384-FC99-4DE1-863C-84A10E0609C1}" type="datetime1">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88584133"/>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68A42B-9A3F-41A6-90A5-C00E7F0BD047}" type="datetime1">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816817227"/>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A263A4-9825-4B8A-BC79-CE69AA963249}"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1483693"/>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BF545C-48CE-44B5-B158-8F9D0B074422}"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34603955"/>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8F833C-8968-4685-BA74-B61353CEA8E2}"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71314469"/>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D58EC8-B977-4278-A59E-894399667F4D}"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16276512"/>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5539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lIns="0" tIns="0" rIns="0" bIns="0"/>
          <a:lstStyle>
            <a:lvl1pPr algn="ctr">
              <a:defRPr>
                <a:solidFill>
                  <a:schemeClr val="tx1">
                    <a:tint val="75000"/>
                  </a:schemeClr>
                </a:solidFill>
              </a:defRPr>
            </a:lvl1pPr>
          </a:lstStyle>
          <a:p>
            <a:endParaRPr/>
          </a:p>
        </p:txBody>
      </p:sp>
    </p:spTree>
    <p:extLst>
      <p:ext uri="{BB962C8B-B14F-4D97-AF65-F5344CB8AC3E}">
        <p14:creationId xmlns:p14="http://schemas.microsoft.com/office/powerpoint/2010/main" val="4103662436"/>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169551" y="2524236"/>
            <a:ext cx="2804896" cy="488916"/>
          </a:xfrm>
        </p:spPr>
        <p:txBody>
          <a:bodyPr lIns="0" tIns="0" rIns="0" bIns="0"/>
          <a:lstStyle>
            <a:lvl1pPr>
              <a:defRPr sz="3177" b="0" i="0">
                <a:solidFill>
                  <a:schemeClr val="bg1"/>
                </a:solidFill>
                <a:latin typeface="Calibri"/>
                <a:cs typeface="Calibri"/>
              </a:defRPr>
            </a:lvl1pPr>
          </a:lstStyle>
          <a:p>
            <a:endParaRPr/>
          </a:p>
        </p:txBody>
      </p:sp>
      <p:sp>
        <p:nvSpPr>
          <p:cNvPr id="3" name="Holder 3"/>
          <p:cNvSpPr>
            <a:spLocks noGrp="1"/>
          </p:cNvSpPr>
          <p:nvPr>
            <p:ph type="body" idx="1"/>
          </p:nvPr>
        </p:nvSpPr>
        <p:spPr>
          <a:xfrm>
            <a:off x="2119239" y="3235138"/>
            <a:ext cx="4905523" cy="244362"/>
          </a:xfrm>
        </p:spPr>
        <p:txBody>
          <a:bodyPr lIns="0" tIns="0" rIns="0" bIns="0"/>
          <a:lstStyle>
            <a:lvl1pPr>
              <a:defRPr sz="1588" b="1" i="0">
                <a:solidFill>
                  <a:srgbClr val="002D5B"/>
                </a:solidFill>
                <a:latin typeface="Futura Std Book"/>
                <a:cs typeface="Futura Std Book"/>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691088" y="6336973"/>
            <a:ext cx="2103120" cy="276999"/>
          </a:xfrm>
          <a:prstGeom prst="rect">
            <a:avLst/>
          </a:prstGeom>
        </p:spPr>
        <p:txBody>
          <a:bodyPr lIns="0" tIns="0" rIns="0" bIns="0"/>
          <a:lstStyle>
            <a:lvl1pPr algn="l">
              <a:defRPr>
                <a:solidFill>
                  <a:schemeClr val="tx1">
                    <a:tint val="75000"/>
                  </a:schemeClr>
                </a:solidFill>
              </a:defRPr>
            </a:lvl1pPr>
          </a:lstStyle>
          <a:p>
            <a:fld id="{2AE0528B-A99D-4C54-93F2-A37150AEA9C5}" type="datetime1">
              <a:rPr lang="en-US" smtClean="0"/>
              <a:t>1/17/2026</a:t>
            </a:fld>
            <a:endParaRPr lang="en-US"/>
          </a:p>
        </p:txBody>
      </p:sp>
    </p:spTree>
    <p:extLst>
      <p:ext uri="{BB962C8B-B14F-4D97-AF65-F5344CB8AC3E}">
        <p14:creationId xmlns:p14="http://schemas.microsoft.com/office/powerpoint/2010/main" val="523941229"/>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169551" y="2524236"/>
            <a:ext cx="2804896" cy="488916"/>
          </a:xfrm>
        </p:spPr>
        <p:txBody>
          <a:bodyPr lIns="0" tIns="0" rIns="0" bIns="0"/>
          <a:lstStyle>
            <a:lvl1pPr>
              <a:defRPr sz="3177" b="0" i="0">
                <a:solidFill>
                  <a:schemeClr val="bg1"/>
                </a:solidFill>
                <a:latin typeface="Calibri"/>
                <a:cs typeface="Calibri"/>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3022" y="2187192"/>
            <a:ext cx="3505776" cy="149400"/>
          </a:xfrm>
          <a:prstGeom prst="rect">
            <a:avLst/>
          </a:prstGeom>
        </p:spPr>
        <p:txBody>
          <a:bodyPr wrap="square" lIns="0" tIns="0" rIns="0" bIns="0">
            <a:spAutoFit/>
          </a:bodyPr>
          <a:lstStyle>
            <a:lvl1pPr>
              <a:defRPr sz="971" b="0" i="0">
                <a:solidFill>
                  <a:srgbClr val="002D5B"/>
                </a:solidFill>
                <a:latin typeface="Calibri"/>
                <a:cs typeface="Calibri"/>
              </a:defRPr>
            </a:lvl1pPr>
          </a:lstStyle>
          <a:p>
            <a:endParaRPr/>
          </a:p>
        </p:txBody>
      </p:sp>
      <p:sp>
        <p:nvSpPr>
          <p:cNvPr id="5" name="Holder 5"/>
          <p:cNvSpPr>
            <a:spLocks noGrp="1"/>
          </p:cNvSpPr>
          <p:nvPr>
            <p:ph type="ftr" sz="quarter" idx="5"/>
          </p:nvPr>
        </p:nvSpPr>
        <p:spPr>
          <a:xfrm>
            <a:off x="3108960" y="6377940"/>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691088" y="6336973"/>
            <a:ext cx="2103120" cy="276999"/>
          </a:xfrm>
          <a:prstGeom prst="rect">
            <a:avLst/>
          </a:prstGeom>
        </p:spPr>
        <p:txBody>
          <a:bodyPr lIns="0" tIns="0" rIns="0" bIns="0"/>
          <a:lstStyle>
            <a:lvl1pPr algn="l">
              <a:defRPr>
                <a:solidFill>
                  <a:schemeClr val="tx1">
                    <a:tint val="75000"/>
                  </a:schemeClr>
                </a:solidFill>
              </a:defRPr>
            </a:lvl1pPr>
          </a:lstStyle>
          <a:p>
            <a:fld id="{F985A054-2419-439B-BDF5-1697C584EB48}" type="datetime1">
              <a:rPr lang="en-US" smtClean="0"/>
              <a:t>1/17/2026</a:t>
            </a:fld>
            <a:endParaRPr lang="en-US"/>
          </a:p>
        </p:txBody>
      </p:sp>
    </p:spTree>
    <p:extLst>
      <p:ext uri="{BB962C8B-B14F-4D97-AF65-F5344CB8AC3E}">
        <p14:creationId xmlns:p14="http://schemas.microsoft.com/office/powerpoint/2010/main" val="2187754117"/>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169551" y="2524236"/>
            <a:ext cx="2804896" cy="488916"/>
          </a:xfrm>
        </p:spPr>
        <p:txBody>
          <a:bodyPr lIns="0" tIns="0" rIns="0" bIns="0"/>
          <a:lstStyle>
            <a:lvl1pPr>
              <a:defRPr sz="3177" b="0" i="0">
                <a:solidFill>
                  <a:schemeClr val="bg1"/>
                </a:solidFill>
                <a:latin typeface="Calibri"/>
                <a:cs typeface="Calibri"/>
              </a:defRPr>
            </a:lvl1pPr>
          </a:lstStyle>
          <a:p>
            <a:endParaRPr/>
          </a:p>
        </p:txBody>
      </p:sp>
      <p:sp>
        <p:nvSpPr>
          <p:cNvPr id="3" name="Holder 3"/>
          <p:cNvSpPr>
            <a:spLocks noGrp="1"/>
          </p:cNvSpPr>
          <p:nvPr>
            <p:ph type="ftr" sz="quarter" idx="5"/>
          </p:nvPr>
        </p:nvSpPr>
        <p:spPr>
          <a:xfrm>
            <a:off x="3108960" y="6377940"/>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6691088" y="6336973"/>
            <a:ext cx="2103120" cy="276999"/>
          </a:xfrm>
          <a:prstGeom prst="rect">
            <a:avLst/>
          </a:prstGeom>
        </p:spPr>
        <p:txBody>
          <a:bodyPr lIns="0" tIns="0" rIns="0" bIns="0"/>
          <a:lstStyle>
            <a:lvl1pPr algn="l">
              <a:defRPr>
                <a:solidFill>
                  <a:schemeClr val="tx1">
                    <a:tint val="75000"/>
                  </a:schemeClr>
                </a:solidFill>
              </a:defRPr>
            </a:lvl1pPr>
          </a:lstStyle>
          <a:p>
            <a:fld id="{C9DA6574-F569-4A4C-8EEB-BC10647D5D21}" type="datetime1">
              <a:rPr lang="en-US" smtClean="0"/>
              <a:t>1/17/2026</a:t>
            </a:fld>
            <a:endParaRPr lang="en-US"/>
          </a:p>
        </p:txBody>
      </p:sp>
    </p:spTree>
    <p:extLst>
      <p:ext uri="{BB962C8B-B14F-4D97-AF65-F5344CB8AC3E}">
        <p14:creationId xmlns:p14="http://schemas.microsoft.com/office/powerpoint/2010/main" val="2071008349"/>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6377940"/>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6691088" y="6336973"/>
            <a:ext cx="2103120" cy="276999"/>
          </a:xfrm>
          <a:prstGeom prst="rect">
            <a:avLst/>
          </a:prstGeom>
        </p:spPr>
        <p:txBody>
          <a:bodyPr lIns="0" tIns="0" rIns="0" bIns="0"/>
          <a:lstStyle>
            <a:lvl1pPr algn="l">
              <a:defRPr>
                <a:solidFill>
                  <a:schemeClr val="tx1">
                    <a:tint val="75000"/>
                  </a:schemeClr>
                </a:solidFill>
              </a:defRPr>
            </a:lvl1pPr>
          </a:lstStyle>
          <a:p>
            <a:fld id="{4C2A0470-9543-4C55-B492-CF4B99292C37}" type="datetime1">
              <a:rPr lang="en-US" smtClean="0"/>
              <a:t>1/17/2026</a:t>
            </a:fld>
            <a:endParaRPr lang="en-US"/>
          </a:p>
        </p:txBody>
      </p:sp>
    </p:spTree>
    <p:extLst>
      <p:ext uri="{BB962C8B-B14F-4D97-AF65-F5344CB8AC3E}">
        <p14:creationId xmlns:p14="http://schemas.microsoft.com/office/powerpoint/2010/main" val="2952231281"/>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48B73D-7C77-4AEB-B313-EEAAC1C805B6}" type="datetime1">
              <a:rPr lang="en-US" smtClean="0"/>
              <a:t>1/17/2026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 name="Holder 6">
            <a:extLst>
              <a:ext uri="{FF2B5EF4-FFF2-40B4-BE49-F238E27FC236}">
                <a16:creationId xmlns:a16="http://schemas.microsoft.com/office/drawing/2014/main" id="{0BFD3DCC-CA7A-4E0D-B0CF-A702AF2FF6B6}"/>
              </a:ext>
            </a:extLst>
          </p:cNvPr>
          <p:cNvSpPr txBox="1">
            <a:spLocks/>
          </p:cNvSpPr>
          <p:nvPr userDrawn="1"/>
        </p:nvSpPr>
        <p:spPr>
          <a:xfrm>
            <a:off x="6629400" y="6497479"/>
            <a:ext cx="2103120" cy="246221"/>
          </a:xfrm>
          <a:prstGeom prst="rect">
            <a:avLst/>
          </a:prstGeom>
        </p:spPr>
        <p:txBody>
          <a:bodyPr wrap="square" lIns="0" tIns="0" rIns="0" bIns="0">
            <a:spAutoFit/>
          </a:bodyPr>
          <a:lstStyle>
            <a:defPPr>
              <a:defRPr lang="en-US"/>
            </a:defPPr>
            <a:lvl1pPr marL="0" algn="r" defTabSz="457200" rtl="0" eaLnBrk="1" latinLnBrk="0" hangingPunct="1">
              <a:defRPr sz="1600" b="1" kern="1200">
                <a:solidFill>
                  <a:srgbClr val="1F325C"/>
                </a:solidFill>
                <a:latin typeface="Times New Roman" panose="02020603050405020304" pitchFamily="18" charset="0"/>
                <a:ea typeface="+mn-ea"/>
                <a:cs typeface="Times New Roman" panose="02020603050405020304"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1" i="0" u="none" strike="noStrike" kern="1200" cap="none" spc="0" normalizeH="0" baseline="0" noProof="0" smtClean="0">
                <a:ln>
                  <a:noFill/>
                </a:ln>
                <a:solidFill>
                  <a:srgbClr val="1F325C"/>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srgbClr val="1F325C"/>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043314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169551" y="2524236"/>
            <a:ext cx="2804896" cy="553998"/>
          </a:xfrm>
          <a:prstGeom prst="rect">
            <a:avLst/>
          </a:prstGeom>
        </p:spPr>
        <p:txBody>
          <a:bodyPr wrap="square" lIns="0" tIns="0" rIns="0" bIns="0">
            <a:spAutoFit/>
          </a:bodyPr>
          <a:lstStyle>
            <a:lvl1pPr>
              <a:defRPr sz="3600" b="0" i="0">
                <a:solidFill>
                  <a:schemeClr val="bg1"/>
                </a:solidFill>
                <a:latin typeface="Calibri"/>
                <a:cs typeface="Calibri"/>
              </a:defRPr>
            </a:lvl1pPr>
          </a:lstStyle>
          <a:p>
            <a:endParaRPr/>
          </a:p>
        </p:txBody>
      </p:sp>
      <p:sp>
        <p:nvSpPr>
          <p:cNvPr id="3" name="Holder 3"/>
          <p:cNvSpPr>
            <a:spLocks noGrp="1"/>
          </p:cNvSpPr>
          <p:nvPr>
            <p:ph type="body" idx="1"/>
          </p:nvPr>
        </p:nvSpPr>
        <p:spPr>
          <a:xfrm>
            <a:off x="2119239" y="3235138"/>
            <a:ext cx="4905523" cy="276999"/>
          </a:xfrm>
          <a:prstGeom prst="rect">
            <a:avLst/>
          </a:prstGeom>
        </p:spPr>
        <p:txBody>
          <a:bodyPr wrap="square" lIns="0" tIns="0" rIns="0" bIns="0">
            <a:spAutoFit/>
          </a:bodyPr>
          <a:lstStyle>
            <a:lvl1pPr>
              <a:defRPr sz="1800" b="1" i="0">
                <a:solidFill>
                  <a:srgbClr val="002D5B"/>
                </a:solidFill>
                <a:latin typeface="Futura Std Book"/>
                <a:cs typeface="Futura Std Book"/>
              </a:defRPr>
            </a:lvl1pPr>
          </a:lstStyle>
          <a:p>
            <a:endParaRPr/>
          </a:p>
        </p:txBody>
      </p:sp>
      <p:sp>
        <p:nvSpPr>
          <p:cNvPr id="8" name="Holder 6">
            <a:extLst>
              <a:ext uri="{FF2B5EF4-FFF2-40B4-BE49-F238E27FC236}">
                <a16:creationId xmlns:a16="http://schemas.microsoft.com/office/drawing/2014/main" id="{9454AA36-2B11-414D-857D-FF0027BA5335}"/>
              </a:ext>
            </a:extLst>
          </p:cNvPr>
          <p:cNvSpPr txBox="1">
            <a:spLocks/>
          </p:cNvSpPr>
          <p:nvPr userDrawn="1"/>
        </p:nvSpPr>
        <p:spPr>
          <a:xfrm>
            <a:off x="6629400" y="6497479"/>
            <a:ext cx="2103120" cy="246221"/>
          </a:xfrm>
          <a:prstGeom prst="rect">
            <a:avLst/>
          </a:prstGeom>
        </p:spPr>
        <p:txBody>
          <a:bodyPr wrap="square" lIns="0" tIns="0" rIns="0" bIns="0">
            <a:spAutoFit/>
          </a:bodyPr>
          <a:lstStyle>
            <a:defPPr>
              <a:defRPr lang="en-US"/>
            </a:defPPr>
            <a:lvl1pPr marL="0" algn="r" defTabSz="457200" rtl="0" eaLnBrk="1" latinLnBrk="0" hangingPunct="1">
              <a:defRPr sz="1600" b="1" kern="1200">
                <a:solidFill>
                  <a:srgbClr val="1F325C"/>
                </a:solidFill>
                <a:latin typeface="Times New Roman" panose="02020603050405020304" pitchFamily="18" charset="0"/>
                <a:ea typeface="+mn-ea"/>
                <a:cs typeface="Times New Roman" panose="02020603050405020304"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1" i="0" u="none" strike="noStrike" kern="1200" cap="none" spc="0" normalizeH="0" baseline="0" noProof="0" smtClean="0">
                <a:ln>
                  <a:noFill/>
                </a:ln>
                <a:solidFill>
                  <a:srgbClr val="1F325C"/>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srgbClr val="1F325C"/>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22857161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Lst>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flipV="1">
            <a:off x="4345864" y="72734"/>
            <a:ext cx="370500" cy="71176"/>
          </a:xfrm>
          <a:custGeom>
            <a:avLst/>
            <a:gdLst/>
            <a:ahLst/>
            <a:cxnLst/>
            <a:rect l="l" t="t" r="r" b="b"/>
            <a:pathLst>
              <a:path w="402590">
                <a:moveTo>
                  <a:pt x="0" y="0"/>
                </a:moveTo>
                <a:lnTo>
                  <a:pt x="402437" y="0"/>
                </a:lnTo>
              </a:path>
            </a:pathLst>
          </a:custGeom>
          <a:ln w="20815">
            <a:solidFill>
              <a:srgbClr val="F37522"/>
            </a:solidFill>
          </a:ln>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9" name="object 9"/>
          <p:cNvSpPr txBox="1"/>
          <p:nvPr/>
        </p:nvSpPr>
        <p:spPr>
          <a:xfrm>
            <a:off x="1736451" y="268474"/>
            <a:ext cx="6149991" cy="226759"/>
          </a:xfrm>
          <a:prstGeom prst="rect">
            <a:avLst/>
          </a:prstGeom>
        </p:spPr>
        <p:txBody>
          <a:bodyPr vert="horz" wrap="square" lIns="0" tIns="11206" rIns="0" bIns="0" rtlCol="0" anchor="t">
            <a:spAutoFit/>
          </a:bodyPr>
          <a:lstStyle/>
          <a:p>
            <a:pPr marL="10795" algn="ctr">
              <a:spcBef>
                <a:spcPts val="88"/>
              </a:spcBef>
            </a:pPr>
            <a:r>
              <a:rPr lang="en-US" sz="1400" spc="202">
                <a:solidFill>
                  <a:srgbClr val="002D5B"/>
                </a:solidFill>
                <a:latin typeface="Times New Roman"/>
                <a:cs typeface="Times New Roman"/>
              </a:rPr>
              <a:t>BROKER OPINION OF VALUE</a:t>
            </a:r>
            <a:endParaRPr lang="en-US" sz="1400">
              <a:solidFill>
                <a:srgbClr val="000000"/>
              </a:solidFill>
              <a:latin typeface="Calibri" panose="020F0502020204030204"/>
              <a:ea typeface="Calibri"/>
              <a:cs typeface="Calibri" panose="020F0502020204030204"/>
            </a:endParaRPr>
          </a:p>
        </p:txBody>
      </p:sp>
      <p:sp>
        <p:nvSpPr>
          <p:cNvPr id="10" name="object 10"/>
          <p:cNvSpPr/>
          <p:nvPr/>
        </p:nvSpPr>
        <p:spPr>
          <a:xfrm>
            <a:off x="1" y="5867400"/>
            <a:ext cx="9144000" cy="991048"/>
          </a:xfrm>
          <a:custGeom>
            <a:avLst/>
            <a:gdLst/>
            <a:ahLst/>
            <a:cxnLst/>
            <a:rect l="l" t="t" r="r" b="b"/>
            <a:pathLst>
              <a:path w="7516495" h="1765300">
                <a:moveTo>
                  <a:pt x="7516368" y="0"/>
                </a:moveTo>
                <a:lnTo>
                  <a:pt x="0" y="0"/>
                </a:lnTo>
                <a:lnTo>
                  <a:pt x="0" y="1764792"/>
                </a:lnTo>
                <a:lnTo>
                  <a:pt x="7516368" y="1764791"/>
                </a:lnTo>
                <a:lnTo>
                  <a:pt x="7516368" y="0"/>
                </a:lnTo>
                <a:close/>
              </a:path>
            </a:pathLst>
          </a:custGeom>
          <a:solidFill>
            <a:srgbClr val="000D26"/>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pic>
        <p:nvPicPr>
          <p:cNvPr id="2" name="Picture 5" descr="A close up of a logo&#10;&#10;Description generated with very high confidence">
            <a:extLst>
              <a:ext uri="{FF2B5EF4-FFF2-40B4-BE49-F238E27FC236}">
                <a16:creationId xmlns:a16="http://schemas.microsoft.com/office/drawing/2014/main" id="{F4958610-A579-483B-A413-558E5EFAE0B0}"/>
              </a:ext>
            </a:extLst>
          </p:cNvPr>
          <p:cNvPicPr>
            <a:picLocks noChangeAspect="1"/>
          </p:cNvPicPr>
          <p:nvPr/>
        </p:nvPicPr>
        <p:blipFill>
          <a:blip r:embed="rId2"/>
          <a:stretch>
            <a:fillRect/>
          </a:stretch>
        </p:blipFill>
        <p:spPr>
          <a:xfrm>
            <a:off x="3532726" y="5981895"/>
            <a:ext cx="2088619" cy="765302"/>
          </a:xfrm>
          <a:prstGeom prst="rect">
            <a:avLst/>
          </a:prstGeom>
        </p:spPr>
      </p:pic>
      <p:pic>
        <p:nvPicPr>
          <p:cNvPr id="16" name="Picture 15" descr="A person in a suit smiling&#10;&#10;AI-generated content may be incorrect.">
            <a:extLst>
              <a:ext uri="{FF2B5EF4-FFF2-40B4-BE49-F238E27FC236}">
                <a16:creationId xmlns:a16="http://schemas.microsoft.com/office/drawing/2014/main" id="{32E71638-31F5-3388-5D09-4099B4B59632}"/>
              </a:ext>
            </a:extLst>
          </p:cNvPr>
          <p:cNvPicPr>
            <a:picLocks noChangeAspect="1"/>
          </p:cNvPicPr>
          <p:nvPr/>
        </p:nvPicPr>
        <p:blipFill>
          <a:blip r:embed="rId3"/>
          <a:stretch>
            <a:fillRect/>
          </a:stretch>
        </p:blipFill>
        <p:spPr>
          <a:xfrm>
            <a:off x="1469914" y="799537"/>
            <a:ext cx="2670800" cy="1934298"/>
          </a:xfrm>
          <a:prstGeom prst="rect">
            <a:avLst/>
          </a:prstGeom>
        </p:spPr>
      </p:pic>
      <p:pic>
        <p:nvPicPr>
          <p:cNvPr id="17" name="Picture 16" descr="A person in a suit smiling&#10;&#10;AI-generated content may be incorrect.">
            <a:extLst>
              <a:ext uri="{FF2B5EF4-FFF2-40B4-BE49-F238E27FC236}">
                <a16:creationId xmlns:a16="http://schemas.microsoft.com/office/drawing/2014/main" id="{164B34B8-4262-2C4C-C813-8A80DC5DF990}"/>
              </a:ext>
            </a:extLst>
          </p:cNvPr>
          <p:cNvPicPr>
            <a:picLocks noChangeAspect="1"/>
          </p:cNvPicPr>
          <p:nvPr/>
        </p:nvPicPr>
        <p:blipFill>
          <a:blip r:embed="rId4"/>
          <a:stretch>
            <a:fillRect/>
          </a:stretch>
        </p:blipFill>
        <p:spPr>
          <a:xfrm>
            <a:off x="5130568" y="824993"/>
            <a:ext cx="2645345" cy="1913933"/>
          </a:xfrm>
          <a:prstGeom prst="rect">
            <a:avLst/>
          </a:prstGeom>
        </p:spPr>
      </p:pic>
      <p:pic>
        <p:nvPicPr>
          <p:cNvPr id="18" name="Picture 17" descr="A person with blonde hair wearing a black suit&#10;&#10;AI-generated content may be incorrect.">
            <a:extLst>
              <a:ext uri="{FF2B5EF4-FFF2-40B4-BE49-F238E27FC236}">
                <a16:creationId xmlns:a16="http://schemas.microsoft.com/office/drawing/2014/main" id="{7C35491B-8FB6-39C6-EBB2-DC6398A5D59D}"/>
              </a:ext>
            </a:extLst>
          </p:cNvPr>
          <p:cNvPicPr>
            <a:picLocks noChangeAspect="1"/>
          </p:cNvPicPr>
          <p:nvPr/>
        </p:nvPicPr>
        <p:blipFill>
          <a:blip r:embed="rId5"/>
          <a:stretch>
            <a:fillRect/>
          </a:stretch>
        </p:blipFill>
        <p:spPr>
          <a:xfrm>
            <a:off x="1469914" y="2836061"/>
            <a:ext cx="2670800" cy="1944482"/>
          </a:xfrm>
          <a:prstGeom prst="rect">
            <a:avLst/>
          </a:prstGeom>
        </p:spPr>
      </p:pic>
      <p:pic>
        <p:nvPicPr>
          <p:cNvPr id="19" name="Picture 18" descr="A person in a suit and tie&#10;&#10;AI-generated content may be incorrect.">
            <a:extLst>
              <a:ext uri="{FF2B5EF4-FFF2-40B4-BE49-F238E27FC236}">
                <a16:creationId xmlns:a16="http://schemas.microsoft.com/office/drawing/2014/main" id="{0276378B-9865-9A54-1C96-34B6BE74DF59}"/>
              </a:ext>
            </a:extLst>
          </p:cNvPr>
          <p:cNvPicPr>
            <a:picLocks noChangeAspect="1"/>
          </p:cNvPicPr>
          <p:nvPr/>
        </p:nvPicPr>
        <p:blipFill>
          <a:blip r:embed="rId6"/>
          <a:stretch>
            <a:fillRect/>
          </a:stretch>
        </p:blipFill>
        <p:spPr>
          <a:xfrm>
            <a:off x="5089839" y="2830972"/>
            <a:ext cx="2686071" cy="1949570"/>
          </a:xfrm>
          <a:prstGeom prst="rect">
            <a:avLst/>
          </a:prstGeom>
        </p:spPr>
      </p:pic>
      <p:sp>
        <p:nvSpPr>
          <p:cNvPr id="21" name="object 9">
            <a:extLst>
              <a:ext uri="{FF2B5EF4-FFF2-40B4-BE49-F238E27FC236}">
                <a16:creationId xmlns:a16="http://schemas.microsoft.com/office/drawing/2014/main" id="{D65B2B5E-8C26-1415-AF4E-50DFB21DC854}"/>
              </a:ext>
            </a:extLst>
          </p:cNvPr>
          <p:cNvSpPr txBox="1"/>
          <p:nvPr/>
        </p:nvSpPr>
        <p:spPr>
          <a:xfrm>
            <a:off x="1502251" y="5176498"/>
            <a:ext cx="6149991" cy="806405"/>
          </a:xfrm>
          <a:prstGeom prst="rect">
            <a:avLst/>
          </a:prstGeom>
        </p:spPr>
        <p:txBody>
          <a:bodyPr vert="horz" wrap="square" lIns="0" tIns="11206" rIns="0" bIns="0" rtlCol="0" anchor="t">
            <a:spAutoFit/>
          </a:bodyPr>
          <a:lstStyle/>
          <a:p>
            <a:pPr marL="10795" algn="ctr">
              <a:spcBef>
                <a:spcPts val="88"/>
              </a:spcBef>
            </a:pPr>
            <a:r>
              <a:rPr lang="en-US" b="1" spc="202">
                <a:solidFill>
                  <a:srgbClr val="002D5B"/>
                </a:solidFill>
                <a:latin typeface="Times New Roman"/>
                <a:cs typeface="Times New Roman"/>
              </a:rPr>
              <a:t>INPUT ADDRESS</a:t>
            </a:r>
            <a:endParaRPr lang="en-US"/>
          </a:p>
          <a:p>
            <a:pPr marL="10795" algn="ctr">
              <a:spcBef>
                <a:spcPts val="88"/>
              </a:spcBef>
            </a:pPr>
            <a:r>
              <a:rPr lang="en-US" b="1" spc="202">
                <a:solidFill>
                  <a:srgbClr val="002D5B"/>
                </a:solidFill>
                <a:latin typeface="Times New Roman"/>
                <a:ea typeface="Calibri"/>
                <a:cs typeface="Times New Roman"/>
              </a:rPr>
              <a:t>Owner: INPUT NAME</a:t>
            </a:r>
          </a:p>
          <a:p>
            <a:pPr marL="10795" algn="ctr">
              <a:spcBef>
                <a:spcPts val="88"/>
              </a:spcBef>
            </a:pPr>
            <a:endParaRPr lang="en-US" sz="1400" b="1" spc="202">
              <a:solidFill>
                <a:srgbClr val="002D5B"/>
              </a:solidFill>
              <a:latin typeface="Times New Roman"/>
              <a:ea typeface="Calibri"/>
              <a:cs typeface="Times New Roman"/>
            </a:endParaRPr>
          </a:p>
        </p:txBody>
      </p:sp>
    </p:spTree>
    <p:extLst>
      <p:ext uri="{BB962C8B-B14F-4D97-AF65-F5344CB8AC3E}">
        <p14:creationId xmlns:p14="http://schemas.microsoft.com/office/powerpoint/2010/main" val="627174159"/>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0" y="1117484"/>
            <a:ext cx="9144000" cy="3682253"/>
          </a:xfrm>
          <a:custGeom>
            <a:avLst/>
            <a:gdLst/>
            <a:ahLst/>
            <a:cxnLst/>
            <a:rect l="l" t="t" r="r" b="b"/>
            <a:pathLst>
              <a:path w="9317990" h="4173220">
                <a:moveTo>
                  <a:pt x="0" y="4172686"/>
                </a:moveTo>
                <a:lnTo>
                  <a:pt x="9317710" y="4172686"/>
                </a:lnTo>
                <a:lnTo>
                  <a:pt x="9317710" y="0"/>
                </a:lnTo>
                <a:lnTo>
                  <a:pt x="0" y="0"/>
                </a:lnTo>
                <a:lnTo>
                  <a:pt x="0" y="4172686"/>
                </a:lnTo>
                <a:close/>
              </a:path>
            </a:pathLst>
          </a:custGeom>
          <a:solidFill>
            <a:srgbClr val="000D26">
              <a:alpha val="94999"/>
            </a:srgbClr>
          </a:solidFill>
        </p:spPr>
        <p:txBody>
          <a:bodyPr wrap="square" lIns="0" tIns="0" rIns="0" bIns="0" rtlCol="0"/>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title"/>
          </p:nvPr>
        </p:nvSpPr>
        <p:spPr>
          <a:xfrm>
            <a:off x="-1" y="2324100"/>
            <a:ext cx="8267701" cy="716259"/>
          </a:xfrm>
          <a:prstGeom prst="rect">
            <a:avLst/>
          </a:prstGeom>
        </p:spPr>
        <p:txBody>
          <a:bodyPr vert="horz" wrap="square" lIns="0" tIns="14007" rIns="0" bIns="0" rtlCol="0">
            <a:spAutoFit/>
          </a:bodyPr>
          <a:lstStyle/>
          <a:p>
            <a:pPr marL="1289306" algn="r">
              <a:lnSpc>
                <a:spcPts val="6322"/>
              </a:lnSpc>
              <a:spcBef>
                <a:spcPts val="110"/>
              </a:spcBef>
              <a:tabLst>
                <a:tab pos="2947865" algn="l"/>
              </a:tabLst>
            </a:pPr>
            <a:r>
              <a:rPr lang="en-US" sz="3200">
                <a:latin typeface="Times New Roman" panose="02020603050405020304" pitchFamily="18" charset="0"/>
                <a:cs typeface="Times New Roman" panose="02020603050405020304" pitchFamily="18" charset="0"/>
              </a:rPr>
              <a:t>Corporate &amp; Team Background</a:t>
            </a:r>
            <a:endParaRPr sz="3200">
              <a:latin typeface="Times New Roman" panose="02020603050405020304" pitchFamily="18" charset="0"/>
              <a:cs typeface="Times New Roman" panose="02020603050405020304" pitchFamily="18" charset="0"/>
            </a:endParaRPr>
          </a:p>
        </p:txBody>
      </p:sp>
      <p:pic>
        <p:nvPicPr>
          <p:cNvPr id="2" name="Picture 5" descr="A close up of a logo&#10;&#10;Description generated with very high confidence">
            <a:extLst>
              <a:ext uri="{FF2B5EF4-FFF2-40B4-BE49-F238E27FC236}">
                <a16:creationId xmlns:a16="http://schemas.microsoft.com/office/drawing/2014/main" id="{AA55D81D-47E8-4A95-8147-279572D37EDD}"/>
              </a:ext>
            </a:extLst>
          </p:cNvPr>
          <p:cNvPicPr>
            <a:picLocks noChangeAspect="1"/>
          </p:cNvPicPr>
          <p:nvPr/>
        </p:nvPicPr>
        <p:blipFill>
          <a:blip r:embed="rId2"/>
          <a:stretch>
            <a:fillRect/>
          </a:stretch>
        </p:blipFill>
        <p:spPr>
          <a:xfrm>
            <a:off x="7255153" y="4250742"/>
            <a:ext cx="1491832" cy="552887"/>
          </a:xfrm>
          <a:prstGeom prst="rect">
            <a:avLst/>
          </a:prstGeom>
        </p:spPr>
      </p:pic>
      <p:sp>
        <p:nvSpPr>
          <p:cNvPr id="7" name="object 2">
            <a:extLst>
              <a:ext uri="{FF2B5EF4-FFF2-40B4-BE49-F238E27FC236}">
                <a16:creationId xmlns:a16="http://schemas.microsoft.com/office/drawing/2014/main" id="{CDD1F4D7-1DB0-4DB2-2917-5B05F0A42577}"/>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9" name="object 10">
            <a:extLst>
              <a:ext uri="{FF2B5EF4-FFF2-40B4-BE49-F238E27FC236}">
                <a16:creationId xmlns:a16="http://schemas.microsoft.com/office/drawing/2014/main" id="{E20A9EB6-7929-54E5-ACED-37C6821AE5A5}"/>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4F712A-117A-64EE-8EA0-CC9432FC5849}"/>
              </a:ext>
            </a:extLst>
          </p:cNvPr>
          <p:cNvSpPr txBox="1"/>
          <p:nvPr/>
        </p:nvSpPr>
        <p:spPr>
          <a:xfrm>
            <a:off x="8597347" y="6438347"/>
            <a:ext cx="2981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rgbClr val="022651"/>
                </a:solidFill>
                <a:latin typeface="Times New Roman"/>
                <a:ea typeface="Calibri"/>
                <a:cs typeface="Calibri"/>
              </a:rPr>
              <a:t>2</a:t>
            </a:r>
            <a:endParaRPr lang="en-US" sz="1600" b="1">
              <a:solidFill>
                <a:srgbClr val="022651"/>
              </a:solidFill>
              <a:latin typeface="Times New Roman"/>
            </a:endParaRPr>
          </a:p>
        </p:txBody>
      </p:sp>
    </p:spTree>
    <p:extLst>
      <p:ext uri="{BB962C8B-B14F-4D97-AF65-F5344CB8AC3E}">
        <p14:creationId xmlns:p14="http://schemas.microsoft.com/office/powerpoint/2010/main" val="3208786799"/>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6">
            <a:extLst>
              <a:ext uri="{FF2B5EF4-FFF2-40B4-BE49-F238E27FC236}">
                <a16:creationId xmlns:a16="http://schemas.microsoft.com/office/drawing/2014/main" id="{3C9B6AF2-13C1-4C17-877F-0AFFF0A04DC9}"/>
              </a:ext>
            </a:extLst>
          </p:cNvPr>
          <p:cNvSpPr/>
          <p:nvPr/>
        </p:nvSpPr>
        <p:spPr>
          <a:xfrm>
            <a:off x="367553" y="762000"/>
            <a:ext cx="470647" cy="0"/>
          </a:xfrm>
          <a:custGeom>
            <a:avLst/>
            <a:gdLst/>
            <a:ahLst/>
            <a:cxnLst/>
            <a:rect l="l" t="t" r="r" b="b"/>
            <a:pathLst>
              <a:path w="533400">
                <a:moveTo>
                  <a:pt x="0" y="0"/>
                </a:moveTo>
                <a:lnTo>
                  <a:pt x="532853" y="0"/>
                </a:lnTo>
              </a:path>
            </a:pathLst>
          </a:custGeom>
          <a:ln w="19050">
            <a:solidFill>
              <a:srgbClr val="F37522"/>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7" name="Picture 2" descr="A close up of a logo&#10;&#10;Description generated with very high confidence">
            <a:extLst>
              <a:ext uri="{FF2B5EF4-FFF2-40B4-BE49-F238E27FC236}">
                <a16:creationId xmlns:a16="http://schemas.microsoft.com/office/drawing/2014/main" id="{FFD477B2-C3D2-4A60-A7E0-7C2438250A04}"/>
              </a:ext>
            </a:extLst>
          </p:cNvPr>
          <p:cNvPicPr>
            <a:picLocks noChangeAspect="1"/>
          </p:cNvPicPr>
          <p:nvPr/>
        </p:nvPicPr>
        <p:blipFill>
          <a:blip r:embed="rId2"/>
          <a:stretch>
            <a:fillRect/>
          </a:stretch>
        </p:blipFill>
        <p:spPr>
          <a:xfrm>
            <a:off x="371935" y="6255136"/>
            <a:ext cx="1454182" cy="543754"/>
          </a:xfrm>
          <a:prstGeom prst="rect">
            <a:avLst/>
          </a:prstGeom>
        </p:spPr>
      </p:pic>
      <p:sp>
        <p:nvSpPr>
          <p:cNvPr id="8" name="object 3">
            <a:extLst>
              <a:ext uri="{FF2B5EF4-FFF2-40B4-BE49-F238E27FC236}">
                <a16:creationId xmlns:a16="http://schemas.microsoft.com/office/drawing/2014/main" id="{26AF24D0-44EB-44A0-ABB4-F83C697E2B87}"/>
              </a:ext>
            </a:extLst>
          </p:cNvPr>
          <p:cNvSpPr txBox="1"/>
          <p:nvPr/>
        </p:nvSpPr>
        <p:spPr>
          <a:xfrm>
            <a:off x="225559" y="906038"/>
            <a:ext cx="8697566" cy="5210928"/>
          </a:xfrm>
          <a:prstGeom prst="rect">
            <a:avLst/>
          </a:prstGeom>
        </p:spPr>
        <p:txBody>
          <a:bodyPr vert="horz" wrap="square" lIns="0" tIns="24652" rIns="0" bIns="0" rtlCol="0" anchor="t">
            <a:spAutoFit/>
          </a:bodyPr>
          <a:lstStyle/>
          <a:p>
            <a:pPr marL="342900" marR="0" lvl="1" indent="0" algn="l" defTabSz="457200" rtl="0" eaLnBrk="1" fontAlgn="auto" latinLnBrk="0" hangingPunct="1">
              <a:lnSpc>
                <a:spcPct val="100000"/>
              </a:lnSpc>
              <a:spcBef>
                <a:spcPts val="0"/>
              </a:spcBef>
              <a:spcAft>
                <a:spcPts val="600"/>
              </a:spcAft>
              <a:buClr>
                <a:srgbClr val="ED7D31"/>
              </a:buClr>
              <a:buSzTx/>
              <a:buFontTx/>
              <a:buNone/>
              <a:tabLst/>
              <a:defRPr/>
            </a:pPr>
            <a:r>
              <a:rPr kumimoji="0" lang="en-US" sz="2000" b="1" i="0" u="sng" strike="noStrike" kern="1200" cap="none" spc="0" normalizeH="0" baseline="0" noProof="0">
                <a:ln>
                  <a:noFill/>
                </a:ln>
                <a:solidFill>
                  <a:prstClr val="black"/>
                </a:solidFill>
                <a:effectLst/>
                <a:uLnTx/>
                <a:uFillTx/>
                <a:latin typeface="Times New Roman"/>
                <a:cs typeface="Times New Roman"/>
              </a:rPr>
              <a:t>Executive Summary</a:t>
            </a:r>
            <a:endParaRPr lang="en-US" sz="2000" b="1" i="0" u="sng" strike="noStrike" kern="1200" cap="none" spc="0" normalizeH="0" baseline="0" noProof="0">
              <a:ln>
                <a:noFill/>
              </a:ln>
              <a:solidFill>
                <a:prstClr val="black"/>
              </a:solidFill>
              <a:effectLst/>
              <a:uLnTx/>
              <a:uFillTx/>
              <a:latin typeface="Times New Roman"/>
              <a:cs typeface="Times New Roman"/>
            </a:endParaRPr>
          </a:p>
          <a:p>
            <a:pPr marL="342900" lvl="1">
              <a:spcAft>
                <a:spcPts val="600"/>
              </a:spcAft>
              <a:defRPr/>
            </a:pPr>
            <a:endParaRPr lang="en-US" sz="1700" b="1" u="sng">
              <a:solidFill>
                <a:prstClr val="black"/>
              </a:solidFill>
              <a:latin typeface="Times New Roman"/>
              <a:cs typeface="Times New Roman"/>
            </a:endParaRPr>
          </a:p>
          <a:p>
            <a:pPr marL="342900" lvl="1">
              <a:spcAft>
                <a:spcPts val="600"/>
              </a:spcAft>
              <a:buClr>
                <a:srgbClr val="ED7D31"/>
              </a:buClr>
              <a:defRPr/>
            </a:pPr>
            <a:r>
              <a:rPr lang="en-US" sz="1600" b="1">
                <a:solidFill>
                  <a:prstClr val="black"/>
                </a:solidFill>
                <a:latin typeface="Times New Roman"/>
                <a:cs typeface="Times New Roman"/>
              </a:rPr>
              <a:t>'The Stewart Group' </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lvl="1" indent="-342900">
              <a:spcAft>
                <a:spcPts val="600"/>
              </a:spcAft>
              <a:buClr>
                <a:srgbClr val="ED7D31"/>
              </a:buClr>
              <a:buFont typeface="Wingdings" panose="05000000000000000000" pitchFamily="2" charset="2"/>
              <a:buChar char="§"/>
              <a:defRPr/>
            </a:pPr>
            <a:r>
              <a:rPr kumimoji="0" lang="en-US" sz="1600" b="0" i="0" u="none" strike="noStrike" kern="1200" cap="none" spc="0" normalizeH="0" baseline="0" noProof="0">
                <a:ln>
                  <a:noFill/>
                </a:ln>
                <a:solidFill>
                  <a:prstClr val="black"/>
                </a:solidFill>
                <a:effectLst/>
                <a:uLnTx/>
                <a:uFillTx/>
                <a:latin typeface="Times New Roman"/>
                <a:cs typeface="Times New Roman"/>
              </a:rPr>
              <a:t>Investment sales </a:t>
            </a:r>
            <a:r>
              <a:rPr lang="en-US" sz="1600">
                <a:solidFill>
                  <a:prstClr val="black"/>
                </a:solidFill>
                <a:latin typeface="Times New Roman"/>
                <a:cs typeface="Times New Roman"/>
              </a:rPr>
              <a:t>team with</a:t>
            </a:r>
            <a:r>
              <a:rPr kumimoji="0" lang="en-US" sz="1600" b="0" i="0" u="none" strike="noStrike" kern="1200" cap="none" spc="0" normalizeH="0" baseline="0" noProof="0">
                <a:ln>
                  <a:noFill/>
                </a:ln>
                <a:solidFill>
                  <a:prstClr val="black"/>
                </a:solidFill>
                <a:effectLst/>
                <a:uLnTx/>
                <a:uFillTx/>
                <a:latin typeface="Times New Roman"/>
                <a:cs typeface="Times New Roman"/>
              </a:rPr>
              <a:t> 30+ years of experience</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6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125+ building sales transactions totaling $1,000,000,000+</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6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Our geographical focus is core Manhattan (below 96</a:t>
            </a:r>
            <a:r>
              <a:rPr kumimoji="0" lang="en-US" sz="1600" b="0" i="0" u="none" strike="noStrike" kern="1200" cap="none" spc="0" normalizeH="0" baseline="30000" noProof="0">
                <a:ln>
                  <a:noFill/>
                </a:ln>
                <a:solidFill>
                  <a:prstClr val="black"/>
                </a:solidFill>
                <a:effectLst/>
                <a:uLnTx/>
                <a:uFillTx/>
                <a:latin typeface="Times New Roman"/>
                <a:cs typeface="Times New Roman"/>
              </a:rPr>
              <a:t>th</a:t>
            </a:r>
            <a:r>
              <a:rPr kumimoji="0" lang="en-US" sz="1600" b="0" i="0" u="none" strike="noStrike" kern="1200" cap="none" spc="0" normalizeH="0" baseline="0" noProof="0">
                <a:ln>
                  <a:noFill/>
                </a:ln>
                <a:solidFill>
                  <a:prstClr val="black"/>
                </a:solidFill>
                <a:effectLst/>
                <a:uLnTx/>
                <a:uFillTx/>
                <a:latin typeface="Times New Roman"/>
                <a:cs typeface="Times New Roman"/>
              </a:rPr>
              <a:t> Street) with close tracking of all market and transaction activity in each territory/neighborhood</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lvl="1" indent="-342900">
              <a:spcAft>
                <a:spcPts val="600"/>
              </a:spcAft>
              <a:buClr>
                <a:srgbClr val="ED7D31"/>
              </a:buClr>
              <a:buFont typeface="Wingdings" panose="05000000000000000000" pitchFamily="2" charset="2"/>
              <a:buChar char="§"/>
              <a:defRPr/>
            </a:pPr>
            <a:r>
              <a:rPr kumimoji="0" lang="en-US" sz="1600" b="0" i="0" u="none" strike="noStrike" kern="1200" cap="none" spc="0" normalizeH="0" baseline="0" noProof="0">
                <a:ln>
                  <a:noFill/>
                </a:ln>
                <a:solidFill>
                  <a:prstClr val="black"/>
                </a:solidFill>
                <a:effectLst/>
                <a:uLnTx/>
                <a:uFillTx/>
                <a:latin typeface="Times New Roman"/>
                <a:cs typeface="Times New Roman"/>
              </a:rPr>
              <a:t>Multiyear professional and transactional relationships with all building owners, users, developers and potential buyers in</a:t>
            </a:r>
            <a:r>
              <a:rPr lang="en-US" sz="1600">
                <a:solidFill>
                  <a:prstClr val="black"/>
                </a:solidFill>
                <a:latin typeface="Times New Roman"/>
                <a:cs typeface="Times New Roman"/>
              </a:rPr>
              <a:t> the Lower</a:t>
            </a:r>
            <a:r>
              <a:rPr kumimoji="0" lang="en-US" sz="1600" b="0" i="0" u="none" strike="noStrike" kern="1200" cap="none" spc="0" normalizeH="0" baseline="0" noProof="0">
                <a:ln>
                  <a:noFill/>
                </a:ln>
                <a:solidFill>
                  <a:prstClr val="black"/>
                </a:solidFill>
                <a:effectLst/>
                <a:uLnTx/>
                <a:uFillTx/>
                <a:latin typeface="Times New Roman"/>
                <a:cs typeface="Times New Roman"/>
              </a:rPr>
              <a:t> </a:t>
            </a:r>
            <a:r>
              <a:rPr lang="en-US" sz="1600">
                <a:solidFill>
                  <a:prstClr val="black"/>
                </a:solidFill>
                <a:latin typeface="Times New Roman"/>
                <a:cs typeface="Times New Roman"/>
              </a:rPr>
              <a:t>East Side </a:t>
            </a:r>
            <a:r>
              <a:rPr kumimoji="0" lang="en-US" sz="1600" b="0" i="0" u="none" strike="noStrike" kern="1200" cap="none" spc="0" normalizeH="0" baseline="0" noProof="0">
                <a:ln>
                  <a:noFill/>
                </a:ln>
                <a:solidFill>
                  <a:prstClr val="black"/>
                </a:solidFill>
                <a:effectLst/>
                <a:uLnTx/>
                <a:uFillTx/>
                <a:latin typeface="Times New Roman"/>
                <a:cs typeface="Times New Roman"/>
              </a:rPr>
              <a:t>and throughout the city</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12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Proprietary citywide team database of </a:t>
            </a:r>
            <a:r>
              <a:rPr lang="en-US" sz="1600">
                <a:solidFill>
                  <a:prstClr val="black"/>
                </a:solidFill>
                <a:latin typeface="Times New Roman"/>
                <a:cs typeface="Times New Roman"/>
              </a:rPr>
              <a:t>10,0</a:t>
            </a:r>
            <a:r>
              <a:rPr kumimoji="0" lang="en-US" sz="1600" b="0" i="0" u="none" strike="noStrike" kern="1200" cap="none" spc="0" normalizeH="0" baseline="0" noProof="0">
                <a:ln>
                  <a:noFill/>
                </a:ln>
                <a:solidFill>
                  <a:prstClr val="black"/>
                </a:solidFill>
                <a:effectLst/>
                <a:uLnTx/>
                <a:uFillTx/>
                <a:latin typeface="Times New Roman"/>
                <a:cs typeface="Times New Roman"/>
              </a:rPr>
              <a:t>00+ owners, developers, syndicators, and private/corporate/institutional investors</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342900" marR="0" lvl="1" indent="0" algn="l" defTabSz="457200" rtl="0" eaLnBrk="1" fontAlgn="auto" latinLnBrk="0" hangingPunct="1">
              <a:lnSpc>
                <a:spcPct val="100000"/>
              </a:lnSpc>
              <a:spcBef>
                <a:spcPts val="0"/>
              </a:spcBef>
              <a:spcAft>
                <a:spcPts val="600"/>
              </a:spcAft>
              <a:buClr>
                <a:srgbClr val="ED7D31"/>
              </a:buClr>
              <a:buSzTx/>
              <a:buFontTx/>
              <a:buNone/>
              <a:tabLst/>
              <a:defRPr/>
            </a:pPr>
            <a:r>
              <a:rPr kumimoji="0" lang="en-US" sz="1600" b="1" i="0" u="none" strike="noStrike" kern="1200" cap="none" spc="0" normalizeH="0" baseline="0" noProof="0">
                <a:ln>
                  <a:noFill/>
                </a:ln>
                <a:solidFill>
                  <a:prstClr val="black"/>
                </a:solidFill>
                <a:effectLst/>
                <a:uLnTx/>
                <a:uFillTx/>
                <a:latin typeface="Times New Roman"/>
                <a:cs typeface="Times New Roman"/>
              </a:rPr>
              <a:t>Company</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6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Marcus &amp; Millichap was founded in 1971– taken public in 2013 (NYSE: MMI)</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lvl="1" indent="-342900">
              <a:spcAft>
                <a:spcPts val="600"/>
              </a:spcAft>
              <a:buClr>
                <a:srgbClr val="ED7D31"/>
              </a:buClr>
              <a:buFont typeface="Wingdings" panose="05000000000000000000" pitchFamily="2" charset="2"/>
              <a:buChar char="§"/>
              <a:defRPr/>
            </a:pPr>
            <a:r>
              <a:rPr lang="en-US" sz="1600">
                <a:solidFill>
                  <a:prstClr val="black"/>
                </a:solidFill>
                <a:latin typeface="Times New Roman"/>
                <a:cs typeface="Times New Roman"/>
              </a:rPr>
              <a:t>80+ investment sales brokers in Manhattan; 2000</a:t>
            </a:r>
            <a:r>
              <a:rPr kumimoji="0" lang="en-US" sz="1600" b="0" i="0" u="none" strike="noStrike" kern="1200" cap="none" spc="0" normalizeH="0" baseline="0" noProof="0">
                <a:ln>
                  <a:noFill/>
                </a:ln>
                <a:solidFill>
                  <a:prstClr val="black"/>
                </a:solidFill>
                <a:effectLst/>
                <a:uLnTx/>
                <a:uFillTx/>
                <a:latin typeface="Times New Roman"/>
                <a:cs typeface="Times New Roman"/>
              </a:rPr>
              <a:t>+ brokers in 86 offices in U.S. and Canada </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6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6,500+ building sales transactions closed in 2024</a:t>
            </a:r>
            <a:endParaRPr lang="en-US" sz="1600" b="0" i="0" u="none" strike="noStrike" kern="1200" cap="none" spc="0" normalizeH="0" baseline="0" noProof="0">
              <a:ln>
                <a:noFill/>
              </a:ln>
              <a:solidFill>
                <a:prstClr val="black"/>
              </a:solidFill>
              <a:effectLst/>
              <a:uLnTx/>
              <a:uFillTx/>
              <a:latin typeface="Times New Roman"/>
              <a:cs typeface="Times New Roman"/>
            </a:endParaRPr>
          </a:p>
          <a:p>
            <a:pPr marL="685800" marR="0" lvl="1" indent="-342900" algn="l" defTabSz="457200" rtl="0" eaLnBrk="1" fontAlgn="auto" latinLnBrk="0" hangingPunct="1">
              <a:lnSpc>
                <a:spcPct val="100000"/>
              </a:lnSpc>
              <a:spcBef>
                <a:spcPts val="0"/>
              </a:spcBef>
              <a:spcAft>
                <a:spcPts val="600"/>
              </a:spcAft>
              <a:buClr>
                <a:srgbClr val="ED7D31"/>
              </a:buClr>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Times New Roman"/>
                <a:cs typeface="Times New Roman"/>
              </a:rPr>
              <a:t>2,200+ 1031 exchange transactions closed in 2024</a:t>
            </a:r>
            <a:endParaRPr lang="en-US" sz="1600" b="0" i="0" u="none" strike="noStrike" kern="1200" cap="none" spc="0" normalizeH="0" baseline="0" noProof="0">
              <a:ln>
                <a:noFill/>
              </a:ln>
              <a:solidFill>
                <a:prstClr val="black"/>
              </a:solidFill>
              <a:effectLst/>
              <a:uLnTx/>
              <a:uFillTx/>
              <a:latin typeface="Times New Roman"/>
              <a:cs typeface="Times New Roman"/>
            </a:endParaRPr>
          </a:p>
        </p:txBody>
      </p:sp>
      <p:sp>
        <p:nvSpPr>
          <p:cNvPr id="4" name="object 2">
            <a:extLst>
              <a:ext uri="{FF2B5EF4-FFF2-40B4-BE49-F238E27FC236}">
                <a16:creationId xmlns:a16="http://schemas.microsoft.com/office/drawing/2014/main" id="{CD1CC32C-C477-EF9A-9CDB-0E351C71B458}"/>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9" name="object 10">
            <a:extLst>
              <a:ext uri="{FF2B5EF4-FFF2-40B4-BE49-F238E27FC236}">
                <a16:creationId xmlns:a16="http://schemas.microsoft.com/office/drawing/2014/main" id="{E2B3AF66-1363-FD8D-767B-DB4543D54CF6}"/>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1462643"/>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8AC7A1-9493-CA4F-E682-EFE06D62573D}"/>
              </a:ext>
            </a:extLst>
          </p:cNvPr>
          <p:cNvSpPr txBox="1"/>
          <p:nvPr/>
        </p:nvSpPr>
        <p:spPr>
          <a:xfrm>
            <a:off x="676574" y="2993327"/>
            <a:ext cx="7790852" cy="1369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a:latin typeface="Times New Roman"/>
                <a:ea typeface="+mn-lt"/>
                <a:cs typeface="+mn-lt"/>
              </a:rPr>
              <a:t>John J. Stewart is a Senior Vice President Investments and Associate Broker in Marcus &amp; Millichap’s Manhattan office where he specializes in representing multifamily and commercial real estate owners in building sales transactions in core Manhattan. Since joining M&amp;M in 2005, John has closed over $1 billion of building sales transactions and has earned multiple National Achievement Awards and Chairman’s Club honors which recognizes the top 5% of M&amp;M investment sales brokers nationally.</a:t>
            </a:r>
            <a:endParaRPr lang="en-US" sz="1300">
              <a:latin typeface="Times New Roman"/>
              <a:ea typeface="Calibri"/>
              <a:cs typeface="Calibri"/>
            </a:endParaRPr>
          </a:p>
          <a:p>
            <a:pPr algn="l"/>
            <a:endParaRPr lang="en-US">
              <a:ea typeface="Calibri"/>
              <a:cs typeface="Calibri"/>
            </a:endParaRPr>
          </a:p>
        </p:txBody>
      </p:sp>
      <p:pic>
        <p:nvPicPr>
          <p:cNvPr id="5" name="Picture 4" descr="A blue and orange rectangular object&#10;&#10;AI-generated content may be incorrect.">
            <a:extLst>
              <a:ext uri="{FF2B5EF4-FFF2-40B4-BE49-F238E27FC236}">
                <a16:creationId xmlns:a16="http://schemas.microsoft.com/office/drawing/2014/main" id="{58B914CC-4672-93D7-0439-FE26A5B1FD32}"/>
              </a:ext>
            </a:extLst>
          </p:cNvPr>
          <p:cNvPicPr>
            <a:picLocks noChangeAspect="1"/>
          </p:cNvPicPr>
          <p:nvPr/>
        </p:nvPicPr>
        <p:blipFill>
          <a:blip r:embed="rId2"/>
          <a:stretch>
            <a:fillRect/>
          </a:stretch>
        </p:blipFill>
        <p:spPr>
          <a:xfrm>
            <a:off x="0" y="1956"/>
            <a:ext cx="9144000" cy="2917658"/>
          </a:xfrm>
          <a:prstGeom prst="rect">
            <a:avLst/>
          </a:prstGeom>
        </p:spPr>
      </p:pic>
      <p:sp>
        <p:nvSpPr>
          <p:cNvPr id="7" name="TextBox 6">
            <a:extLst>
              <a:ext uri="{FF2B5EF4-FFF2-40B4-BE49-F238E27FC236}">
                <a16:creationId xmlns:a16="http://schemas.microsoft.com/office/drawing/2014/main" id="{6C0CBB42-5B12-B93C-944E-DAABE3B3EB8D}"/>
              </a:ext>
            </a:extLst>
          </p:cNvPr>
          <p:cNvSpPr txBox="1"/>
          <p:nvPr/>
        </p:nvSpPr>
        <p:spPr>
          <a:xfrm>
            <a:off x="1065254" y="4382881"/>
            <a:ext cx="3177847" cy="16158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ea typeface="Calibri"/>
                <a:cs typeface="Calibri"/>
              </a:rPr>
              <a:t>Professional Affiliations: </a:t>
            </a:r>
          </a:p>
          <a:p>
            <a:pPr marL="285750" indent="-285750">
              <a:buFont typeface="Arial"/>
              <a:buChar char="•"/>
            </a:pPr>
            <a:r>
              <a:rPr lang="en-US" sz="1100">
                <a:latin typeface="Times New Roman"/>
                <a:ea typeface="+mn-lt"/>
                <a:cs typeface="+mn-lt"/>
              </a:rPr>
              <a:t>Real Estate Board of New York</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Community Housing Improvement Program</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Small Property Owners of New York</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Rent Stabilization Association</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Certified Commercial Investment Member</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National Multi Housing Council</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Urban Land Institute</a:t>
            </a:r>
            <a:endParaRPr lang="en-US" sz="1100">
              <a:latin typeface="Times New Roman"/>
              <a:cs typeface="Times New Roman"/>
            </a:endParaRPr>
          </a:p>
          <a:p>
            <a:endParaRPr lang="en-US" sz="1100">
              <a:ea typeface="Calibri"/>
              <a:cs typeface="Calibri"/>
            </a:endParaRPr>
          </a:p>
        </p:txBody>
      </p:sp>
      <p:sp>
        <p:nvSpPr>
          <p:cNvPr id="11" name="TextBox 10">
            <a:extLst>
              <a:ext uri="{FF2B5EF4-FFF2-40B4-BE49-F238E27FC236}">
                <a16:creationId xmlns:a16="http://schemas.microsoft.com/office/drawing/2014/main" id="{433D63F9-1B60-F447-7A91-D4AA60903CA4}"/>
              </a:ext>
            </a:extLst>
          </p:cNvPr>
          <p:cNvSpPr txBox="1"/>
          <p:nvPr/>
        </p:nvSpPr>
        <p:spPr>
          <a:xfrm>
            <a:off x="5275415" y="4666687"/>
            <a:ext cx="2849811"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ea typeface="Calibri"/>
                <a:cs typeface="Calibri"/>
              </a:rPr>
              <a:t>Education: </a:t>
            </a:r>
          </a:p>
          <a:p>
            <a:pPr marL="285750" indent="-285750">
              <a:buFont typeface="Arial"/>
              <a:buChar char="•"/>
            </a:pPr>
            <a:r>
              <a:rPr lang="en-US" sz="1100">
                <a:latin typeface="Times New Roman"/>
                <a:ea typeface="+mn-lt"/>
                <a:cs typeface="+mn-lt"/>
              </a:rPr>
              <a:t>Collegiate School</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The Hotchkiss School</a:t>
            </a:r>
            <a:endParaRPr lang="en-US" sz="1100">
              <a:latin typeface="Times New Roman"/>
              <a:ea typeface="Calibri"/>
              <a:cs typeface="Calibri"/>
            </a:endParaRPr>
          </a:p>
          <a:p>
            <a:pPr marL="285750" indent="-285750">
              <a:buFont typeface="Arial"/>
              <a:buChar char="•"/>
            </a:pPr>
            <a:r>
              <a:rPr lang="en-US" sz="1100">
                <a:latin typeface="Times New Roman"/>
                <a:ea typeface="+mn-lt"/>
                <a:cs typeface="+mn-lt"/>
              </a:rPr>
              <a:t>Washington and Lee University</a:t>
            </a:r>
            <a:endParaRPr lang="en-US" sz="1100">
              <a:latin typeface="Times New Roman"/>
              <a:cs typeface="Times New Roman"/>
            </a:endParaRPr>
          </a:p>
          <a:p>
            <a:endParaRPr lang="en-US">
              <a:ea typeface="Calibri"/>
              <a:cs typeface="Calibri"/>
            </a:endParaRPr>
          </a:p>
        </p:txBody>
      </p:sp>
      <p:pic>
        <p:nvPicPr>
          <p:cNvPr id="13" name="Picture 12" descr="A black background with blue lines&#10;&#10;AI-generated content may be incorrect.">
            <a:extLst>
              <a:ext uri="{FF2B5EF4-FFF2-40B4-BE49-F238E27FC236}">
                <a16:creationId xmlns:a16="http://schemas.microsoft.com/office/drawing/2014/main" id="{9F531052-3228-E966-62A2-BA48D6C229C3}"/>
              </a:ext>
            </a:extLst>
          </p:cNvPr>
          <p:cNvPicPr>
            <a:picLocks noChangeAspect="1"/>
          </p:cNvPicPr>
          <p:nvPr/>
        </p:nvPicPr>
        <p:blipFill>
          <a:blip r:embed="rId3"/>
          <a:stretch>
            <a:fillRect/>
          </a:stretch>
        </p:blipFill>
        <p:spPr>
          <a:xfrm>
            <a:off x="451049" y="6127822"/>
            <a:ext cx="1465911" cy="548005"/>
          </a:xfrm>
          <a:prstGeom prst="rect">
            <a:avLst/>
          </a:prstGeom>
        </p:spPr>
      </p:pic>
    </p:spTree>
    <p:extLst>
      <p:ext uri="{BB962C8B-B14F-4D97-AF65-F5344CB8AC3E}">
        <p14:creationId xmlns:p14="http://schemas.microsoft.com/office/powerpoint/2010/main" val="1568010333"/>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1117484"/>
            <a:ext cx="9144000" cy="3682253"/>
          </a:xfrm>
          <a:custGeom>
            <a:avLst/>
            <a:gdLst/>
            <a:ahLst/>
            <a:cxnLst/>
            <a:rect l="l" t="t" r="r" b="b"/>
            <a:pathLst>
              <a:path w="9317990" h="4173220">
                <a:moveTo>
                  <a:pt x="0" y="4172686"/>
                </a:moveTo>
                <a:lnTo>
                  <a:pt x="9317710" y="4172686"/>
                </a:lnTo>
                <a:lnTo>
                  <a:pt x="9317710" y="0"/>
                </a:lnTo>
                <a:lnTo>
                  <a:pt x="0" y="0"/>
                </a:lnTo>
                <a:lnTo>
                  <a:pt x="0" y="4172686"/>
                </a:lnTo>
                <a:close/>
              </a:path>
            </a:pathLst>
          </a:custGeom>
          <a:solidFill>
            <a:srgbClr val="000D26">
              <a:alpha val="94999"/>
            </a:srgbClr>
          </a:solidFill>
        </p:spPr>
        <p:txBody>
          <a:bodyPr wrap="square" lIns="0" tIns="0" rIns="0" bIns="0" rtlCol="0"/>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title"/>
          </p:nvPr>
        </p:nvSpPr>
        <p:spPr>
          <a:xfrm>
            <a:off x="-1" y="2324100"/>
            <a:ext cx="8267701" cy="716259"/>
          </a:xfrm>
          <a:prstGeom prst="rect">
            <a:avLst/>
          </a:prstGeom>
        </p:spPr>
        <p:txBody>
          <a:bodyPr vert="horz" wrap="square" lIns="0" tIns="14007" rIns="0" bIns="0" rtlCol="0">
            <a:spAutoFit/>
          </a:bodyPr>
          <a:lstStyle/>
          <a:p>
            <a:pPr marL="1289306" algn="r">
              <a:lnSpc>
                <a:spcPts val="6322"/>
              </a:lnSpc>
              <a:spcBef>
                <a:spcPts val="110"/>
              </a:spcBef>
              <a:tabLst>
                <a:tab pos="2947865" algn="l"/>
              </a:tabLst>
            </a:pPr>
            <a:r>
              <a:rPr lang="en-US" sz="3200">
                <a:latin typeface="Times New Roman" panose="02020603050405020304" pitchFamily="18" charset="0"/>
                <a:cs typeface="Times New Roman" panose="02020603050405020304" pitchFamily="18" charset="0"/>
              </a:rPr>
              <a:t>Pricing Analysis &amp; Marketing Strategy</a:t>
            </a:r>
            <a:endParaRPr sz="3200">
              <a:latin typeface="Times New Roman" panose="02020603050405020304" pitchFamily="18" charset="0"/>
              <a:cs typeface="Times New Roman" panose="02020603050405020304" pitchFamily="18" charset="0"/>
            </a:endParaRPr>
          </a:p>
        </p:txBody>
      </p:sp>
      <p:pic>
        <p:nvPicPr>
          <p:cNvPr id="2" name="Picture 5" descr="A close up of a logo&#10;&#10;Description generated with very high confidence">
            <a:extLst>
              <a:ext uri="{FF2B5EF4-FFF2-40B4-BE49-F238E27FC236}">
                <a16:creationId xmlns:a16="http://schemas.microsoft.com/office/drawing/2014/main" id="{2F4AB0AB-E177-4837-B879-4CEE99429E3D}"/>
              </a:ext>
            </a:extLst>
          </p:cNvPr>
          <p:cNvPicPr>
            <a:picLocks noChangeAspect="1"/>
          </p:cNvPicPr>
          <p:nvPr/>
        </p:nvPicPr>
        <p:blipFill>
          <a:blip r:embed="rId2"/>
          <a:stretch>
            <a:fillRect/>
          </a:stretch>
        </p:blipFill>
        <p:spPr>
          <a:xfrm>
            <a:off x="7255153" y="4250742"/>
            <a:ext cx="1491832" cy="552887"/>
          </a:xfrm>
          <a:prstGeom prst="rect">
            <a:avLst/>
          </a:prstGeom>
        </p:spPr>
      </p:pic>
      <p:sp>
        <p:nvSpPr>
          <p:cNvPr id="4" name="object 2">
            <a:extLst>
              <a:ext uri="{FF2B5EF4-FFF2-40B4-BE49-F238E27FC236}">
                <a16:creationId xmlns:a16="http://schemas.microsoft.com/office/drawing/2014/main" id="{0C9E0C91-9A1E-F05B-0087-9685084278AC}"/>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7" name="object 10">
            <a:extLst>
              <a:ext uri="{FF2B5EF4-FFF2-40B4-BE49-F238E27FC236}">
                <a16:creationId xmlns:a16="http://schemas.microsoft.com/office/drawing/2014/main" id="{498AEE0C-83DC-61EE-5392-EC6EF946FD7F}"/>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7804650"/>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549B-1206-50A2-E91F-5BDBDA9E88B1}"/>
            </a:ext>
          </a:extLst>
        </p:cNvPr>
        <p:cNvGrpSpPr/>
        <p:nvPr/>
      </p:nvGrpSpPr>
      <p:grpSpPr>
        <a:xfrm>
          <a:off x="0" y="0"/>
          <a:ext cx="0" cy="0"/>
          <a:chOff x="0" y="0"/>
          <a:chExt cx="0" cy="0"/>
        </a:xfrm>
      </p:grpSpPr>
      <p:sp>
        <p:nvSpPr>
          <p:cNvPr id="25" name="object 6">
            <a:extLst>
              <a:ext uri="{FF2B5EF4-FFF2-40B4-BE49-F238E27FC236}">
                <a16:creationId xmlns:a16="http://schemas.microsoft.com/office/drawing/2014/main" id="{E02BE276-C6CC-8B2C-44CE-20343893004B}"/>
              </a:ext>
            </a:extLst>
          </p:cNvPr>
          <p:cNvSpPr/>
          <p:nvPr/>
        </p:nvSpPr>
        <p:spPr>
          <a:xfrm>
            <a:off x="367553" y="815228"/>
            <a:ext cx="470647" cy="0"/>
          </a:xfrm>
          <a:custGeom>
            <a:avLst/>
            <a:gdLst/>
            <a:ahLst/>
            <a:cxnLst/>
            <a:rect l="l" t="t" r="r" b="b"/>
            <a:pathLst>
              <a:path w="533400">
                <a:moveTo>
                  <a:pt x="0" y="0"/>
                </a:moveTo>
                <a:lnTo>
                  <a:pt x="532853" y="0"/>
                </a:lnTo>
              </a:path>
            </a:pathLst>
          </a:custGeom>
          <a:ln w="19050">
            <a:solidFill>
              <a:srgbClr val="F37522"/>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5" name="object 3">
            <a:extLst>
              <a:ext uri="{FF2B5EF4-FFF2-40B4-BE49-F238E27FC236}">
                <a16:creationId xmlns:a16="http://schemas.microsoft.com/office/drawing/2014/main" id="{37F0CCDD-7EDA-C8FE-BAE3-9D5DAA36D4F7}"/>
              </a:ext>
            </a:extLst>
          </p:cNvPr>
          <p:cNvSpPr txBox="1"/>
          <p:nvPr/>
        </p:nvSpPr>
        <p:spPr>
          <a:xfrm>
            <a:off x="242230" y="935516"/>
            <a:ext cx="8648701" cy="394225"/>
          </a:xfrm>
          <a:prstGeom prst="rect">
            <a:avLst/>
          </a:prstGeom>
        </p:spPr>
        <p:txBody>
          <a:bodyPr vert="horz" wrap="square" lIns="0" tIns="24652" rIns="0" bIns="0" rtlCol="0" anchor="t">
            <a:spAutoFit/>
          </a:bodyPr>
          <a:lstStyle/>
          <a:p>
            <a:pPr marL="342900" lvl="1">
              <a:spcAft>
                <a:spcPts val="1800"/>
              </a:spcAft>
              <a:defRPr/>
            </a:pPr>
            <a:r>
              <a:rPr lang="en-US" sz="2400" b="1" u="sng">
                <a:solidFill>
                  <a:prstClr val="black"/>
                </a:solidFill>
                <a:latin typeface="Times New Roman"/>
                <a:cs typeface="Times New Roman"/>
              </a:rPr>
              <a:t>Key Factors Determining Value</a:t>
            </a:r>
            <a:endParaRPr lang="en-US">
              <a:solidFill>
                <a:prstClr val="black"/>
              </a:solidFill>
              <a:ea typeface="+mn-ea"/>
            </a:endParaRPr>
          </a:p>
        </p:txBody>
      </p:sp>
      <p:pic>
        <p:nvPicPr>
          <p:cNvPr id="2" name="Picture 2" descr="A close up of a logo&#10;&#10;Description generated with very high confidence">
            <a:extLst>
              <a:ext uri="{FF2B5EF4-FFF2-40B4-BE49-F238E27FC236}">
                <a16:creationId xmlns:a16="http://schemas.microsoft.com/office/drawing/2014/main" id="{718C8297-8C8F-735A-8027-9C4976BFE9B6}"/>
              </a:ext>
            </a:extLst>
          </p:cNvPr>
          <p:cNvPicPr>
            <a:picLocks noChangeAspect="1"/>
          </p:cNvPicPr>
          <p:nvPr/>
        </p:nvPicPr>
        <p:blipFill>
          <a:blip r:embed="rId2"/>
          <a:stretch>
            <a:fillRect/>
          </a:stretch>
        </p:blipFill>
        <p:spPr>
          <a:xfrm>
            <a:off x="371935" y="6255136"/>
            <a:ext cx="1454182" cy="543754"/>
          </a:xfrm>
          <a:prstGeom prst="rect">
            <a:avLst/>
          </a:prstGeom>
        </p:spPr>
      </p:pic>
      <p:sp>
        <p:nvSpPr>
          <p:cNvPr id="6" name="object 2">
            <a:extLst>
              <a:ext uri="{FF2B5EF4-FFF2-40B4-BE49-F238E27FC236}">
                <a16:creationId xmlns:a16="http://schemas.microsoft.com/office/drawing/2014/main" id="{8A60BC63-6780-C44B-B8BE-D2258C86EFAF}"/>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8" name="object 10">
            <a:extLst>
              <a:ext uri="{FF2B5EF4-FFF2-40B4-BE49-F238E27FC236}">
                <a16:creationId xmlns:a16="http://schemas.microsoft.com/office/drawing/2014/main" id="{2652133C-A91D-377F-95A6-B8F2983928BD}"/>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D615C3F-79E1-5C53-75E8-B0FA3539B97D}"/>
              </a:ext>
            </a:extLst>
          </p:cNvPr>
          <p:cNvSpPr txBox="1"/>
          <p:nvPr/>
        </p:nvSpPr>
        <p:spPr>
          <a:xfrm>
            <a:off x="559134" y="1561729"/>
            <a:ext cx="8027846"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ea typeface="Calibri"/>
                <a:cs typeface="Calibri"/>
              </a:rPr>
              <a:t>Net Operating Income </a:t>
            </a:r>
            <a:endParaRPr lang="en-US" u="sng">
              <a:latin typeface="Times New Roman"/>
              <a:ea typeface="Calibri"/>
              <a:cs typeface="Calibri"/>
            </a:endParaRPr>
          </a:p>
          <a:p>
            <a:pPr marL="171450" indent="-171450">
              <a:buFont typeface="Wingdings"/>
              <a:buChar char="Ø"/>
            </a:pPr>
            <a:r>
              <a:rPr lang="en-US" sz="1200" b="1">
                <a:latin typeface="Times New Roman"/>
                <a:ea typeface="Calibri"/>
                <a:cs typeface="Segoe UI"/>
              </a:rPr>
              <a:t>Current NOI &amp; potential upside is the strongest driver of value</a:t>
            </a:r>
            <a:r>
              <a:rPr lang="en-US" sz="1200">
                <a:latin typeface="Times New Roman"/>
                <a:ea typeface="Calibri"/>
                <a:cs typeface="Segoe UI"/>
              </a:rPr>
              <a:t> for most multifamily &amp; mixed-use buildings — buyers price buildings based on current income and potential upside</a:t>
            </a:r>
            <a:endParaRPr lang="en-US" sz="1200">
              <a:latin typeface="Times New Roman"/>
              <a:ea typeface="Calibri"/>
              <a:cs typeface="Calibri"/>
            </a:endParaRPr>
          </a:p>
          <a:p>
            <a:pPr marL="171450" indent="-171450">
              <a:buFont typeface="Wingdings"/>
              <a:buChar char="Ø"/>
            </a:pPr>
            <a:endParaRPr lang="en-US" sz="1100">
              <a:latin typeface="Times New Roman"/>
              <a:ea typeface="Calibri"/>
              <a:cs typeface="Segoe UI"/>
            </a:endParaRPr>
          </a:p>
          <a:p>
            <a:r>
              <a:rPr lang="en-US" b="1">
                <a:latin typeface="Times New Roman"/>
                <a:ea typeface="Calibri"/>
                <a:cs typeface="Times New Roman"/>
              </a:rPr>
              <a:t>Regulatory Factors</a:t>
            </a:r>
            <a:endParaRPr lang="en-US">
              <a:latin typeface="Times New Roman"/>
              <a:ea typeface="Calibri"/>
              <a:cs typeface="Times New Roman"/>
            </a:endParaRPr>
          </a:p>
          <a:p>
            <a:pPr marL="171450" indent="-171450">
              <a:buFont typeface="Wingdings"/>
              <a:buChar char="Ø"/>
            </a:pPr>
            <a:r>
              <a:rPr lang="en-US" sz="1200" b="1">
                <a:latin typeface="Times New Roman"/>
                <a:ea typeface="Calibri"/>
                <a:cs typeface="Times New Roman"/>
              </a:rPr>
              <a:t>Good Cause Eviction (10+ units):</a:t>
            </a:r>
            <a:r>
              <a:rPr lang="en-US" sz="1200">
                <a:latin typeface="Times New Roman"/>
                <a:ea typeface="Calibri"/>
                <a:cs typeface="Times New Roman"/>
              </a:rPr>
              <a:t> Rent growth capped at </a:t>
            </a:r>
            <a:r>
              <a:rPr lang="en-US" sz="1200" b="1">
                <a:latin typeface="Times New Roman"/>
                <a:ea typeface="Calibri"/>
                <a:cs typeface="Times New Roman"/>
              </a:rPr>
              <a:t>5% + inflation</a:t>
            </a:r>
            <a:r>
              <a:rPr lang="en-US" sz="1200">
                <a:latin typeface="Times New Roman"/>
                <a:ea typeface="Calibri"/>
                <a:cs typeface="Times New Roman"/>
              </a:rPr>
              <a:t> without turnover. Need 'Good Cause' to evict tenant.</a:t>
            </a:r>
          </a:p>
          <a:p>
            <a:pPr marL="171450" indent="-171450">
              <a:buFont typeface="Wingdings"/>
              <a:buChar char="Ø"/>
            </a:pPr>
            <a:r>
              <a:rPr lang="en-US" sz="1200" b="1">
                <a:latin typeface="Times New Roman"/>
                <a:ea typeface="Calibri"/>
                <a:cs typeface="Times New Roman"/>
              </a:rPr>
              <a:t>Rent‑Stabilized:</a:t>
            </a:r>
            <a:r>
              <a:rPr lang="en-US" sz="1200">
                <a:latin typeface="Times New Roman"/>
                <a:ea typeface="Calibri"/>
                <a:cs typeface="Times New Roman"/>
              </a:rPr>
              <a:t> Rent Guidelines Board limits annual increases → capped NOI growth. Caps are 3% for one-year leases and 4.5% fortwo-year leases.</a:t>
            </a:r>
          </a:p>
          <a:p>
            <a:pPr marL="171450" indent="-171450">
              <a:buFont typeface="Wingdings"/>
              <a:buChar char="Ø"/>
            </a:pPr>
            <a:r>
              <a:rPr lang="en-US" sz="1200" b="1">
                <a:latin typeface="Times New Roman"/>
                <a:ea typeface="Calibri"/>
                <a:cs typeface="Times New Roman"/>
              </a:rPr>
              <a:t>Rent‑Controlled:</a:t>
            </a:r>
            <a:r>
              <a:rPr lang="en-US" sz="1200">
                <a:latin typeface="Times New Roman"/>
                <a:ea typeface="Calibri"/>
                <a:cs typeface="Times New Roman"/>
              </a:rPr>
              <a:t> Low growth during tenancy; big upside at vacancy via new first rent.</a:t>
            </a:r>
            <a:endParaRPr lang="en-US" sz="1200">
              <a:ea typeface="Calibri"/>
              <a:cs typeface="Calibri"/>
            </a:endParaRPr>
          </a:p>
          <a:p>
            <a:pPr marL="171450" indent="-171450">
              <a:buFont typeface="Wingdings"/>
              <a:buChar char="Ø"/>
            </a:pPr>
            <a:endParaRPr lang="en-US" sz="1100">
              <a:latin typeface="Times New Roman"/>
              <a:ea typeface="Calibri"/>
              <a:cs typeface="Times New Roman"/>
            </a:endParaRPr>
          </a:p>
          <a:p>
            <a:r>
              <a:rPr lang="en-US" b="1">
                <a:latin typeface="Times New Roman"/>
                <a:cs typeface="Times New Roman"/>
              </a:rPr>
              <a:t>Other Contributing Factors</a:t>
            </a:r>
            <a:endParaRPr lang="en-US">
              <a:latin typeface="Times New Roman"/>
              <a:ea typeface="Calibri"/>
              <a:cs typeface="Times New Roman"/>
            </a:endParaRPr>
          </a:p>
          <a:p>
            <a:pPr marL="285750" indent="-285750">
              <a:buFont typeface="Wingdings"/>
              <a:buChar char="Ø"/>
            </a:pPr>
            <a:r>
              <a:rPr lang="en-US" sz="1400" b="1">
                <a:latin typeface="Times New Roman"/>
                <a:cs typeface="Times New Roman"/>
              </a:rPr>
              <a:t>Quality of Paperwork</a:t>
            </a:r>
            <a:endParaRPr lang="en-US">
              <a:latin typeface="Times New Roman"/>
              <a:cs typeface="Times New Roman"/>
            </a:endParaRPr>
          </a:p>
          <a:p>
            <a:pPr marL="742950" lvl="1" indent="-285750">
              <a:buFont typeface="Wingdings"/>
              <a:buChar char="Ø"/>
            </a:pPr>
            <a:r>
              <a:rPr lang="en-US" sz="1200">
                <a:latin typeface="Times New Roman"/>
                <a:cs typeface="Segoe UI"/>
              </a:rPr>
              <a:t>Clean record of leases are needed to confirm free market status</a:t>
            </a:r>
            <a:endParaRPr lang="en-US" sz="1200">
              <a:latin typeface="Times New Roman"/>
              <a:cs typeface="Times New Roman"/>
            </a:endParaRPr>
          </a:p>
          <a:p>
            <a:pPr marL="742950" lvl="1" indent="-285750">
              <a:buFont typeface="Wingdings"/>
              <a:buChar char="Ø"/>
            </a:pPr>
            <a:r>
              <a:rPr lang="en-US" sz="1200">
                <a:latin typeface="Times New Roman"/>
                <a:cs typeface="Segoe UI"/>
              </a:rPr>
              <a:t>Bad paperwork increases risk and lowers value.</a:t>
            </a:r>
            <a:endParaRPr lang="en-US" sz="1200">
              <a:latin typeface="Times New Roman"/>
              <a:cs typeface="Times New Roman"/>
            </a:endParaRPr>
          </a:p>
          <a:p>
            <a:pPr marL="285750" indent="-285750">
              <a:buFont typeface="Wingdings"/>
              <a:buChar char="Ø"/>
            </a:pPr>
            <a:r>
              <a:rPr lang="en-US" b="1">
                <a:latin typeface="Times New Roman"/>
                <a:cs typeface="Times New Roman"/>
              </a:rPr>
              <a:t>Retail Income </a:t>
            </a:r>
            <a:endParaRPr lang="en-US">
              <a:latin typeface="Times New Roman"/>
              <a:cs typeface="Times New Roman"/>
            </a:endParaRPr>
          </a:p>
          <a:p>
            <a:pPr marL="742950" lvl="1" indent="-285750">
              <a:buFont typeface="Wingdings"/>
              <a:buChar char="Ø"/>
            </a:pPr>
            <a:r>
              <a:rPr lang="en-US" sz="1200">
                <a:latin typeface="Times New Roman"/>
                <a:cs typeface="Segoe UI"/>
              </a:rPr>
              <a:t>Strong, long‑term leases boost value and improve rates for any buyer applying for loan.</a:t>
            </a:r>
          </a:p>
          <a:p>
            <a:pPr marL="742950" lvl="1" indent="-285750">
              <a:buFont typeface="Wingdings"/>
              <a:buChar char="Ø"/>
            </a:pPr>
            <a:r>
              <a:rPr lang="en-US" sz="1200">
                <a:latin typeface="Times New Roman"/>
                <a:cs typeface="Segoe UI"/>
              </a:rPr>
              <a:t>Weak or short leases hurt pricing and financing</a:t>
            </a:r>
          </a:p>
          <a:p>
            <a:pPr marL="285750" indent="-285750">
              <a:buFont typeface="Wingdings"/>
              <a:buChar char="Ø"/>
            </a:pPr>
            <a:r>
              <a:rPr lang="en-US" b="1">
                <a:latin typeface="Times New Roman"/>
                <a:cs typeface="Times New Roman"/>
              </a:rPr>
              <a:t>Physical &amp; Operational Factors</a:t>
            </a:r>
            <a:endParaRPr lang="en-US">
              <a:latin typeface="Times New Roman"/>
              <a:cs typeface="Times New Roman"/>
            </a:endParaRPr>
          </a:p>
          <a:p>
            <a:pPr marL="628650" lvl="1" indent="-171450">
              <a:buFont typeface="Wingdings"/>
              <a:buChar char="Ø"/>
            </a:pPr>
            <a:r>
              <a:rPr lang="en-US" sz="1200" b="1">
                <a:latin typeface="Times New Roman"/>
                <a:cs typeface="Segoe UI"/>
              </a:rPr>
              <a:t>Location:</a:t>
            </a:r>
            <a:r>
              <a:rPr lang="en-US" sz="1200">
                <a:latin typeface="Times New Roman"/>
                <a:cs typeface="Segoe UI"/>
              </a:rPr>
              <a:t> Pricing on a PSF basis varies heavily depending on location.</a:t>
            </a:r>
          </a:p>
          <a:p>
            <a:pPr marL="628650" lvl="1" indent="-171450">
              <a:buFont typeface="Wingdings"/>
              <a:buChar char="Ø"/>
            </a:pPr>
            <a:r>
              <a:rPr lang="en-US" sz="1200" b="1">
                <a:latin typeface="Times New Roman"/>
                <a:cs typeface="Segoe UI"/>
              </a:rPr>
              <a:t>Condition:</a:t>
            </a:r>
            <a:r>
              <a:rPr lang="en-US" sz="1200">
                <a:latin typeface="Times New Roman"/>
                <a:cs typeface="Segoe UI"/>
              </a:rPr>
              <a:t> Finished product pricing versus pricing based more on upside potential</a:t>
            </a:r>
            <a:endParaRPr lang="en-US" sz="1200">
              <a:ea typeface="Calibri"/>
              <a:cs typeface="Calibri"/>
            </a:endParaRPr>
          </a:p>
          <a:p>
            <a:pPr marL="171450" indent="-171450">
              <a:buFont typeface="Wingdings"/>
              <a:buChar char="Ø"/>
            </a:pPr>
            <a:endParaRPr lang="en-US" sz="1100">
              <a:latin typeface="Times New Roman"/>
              <a:cs typeface="Segoe UI"/>
            </a:endParaRPr>
          </a:p>
          <a:p>
            <a:pPr marL="171450" indent="-171450">
              <a:buFont typeface="Wingdings"/>
              <a:buChar char="Ø"/>
            </a:pPr>
            <a:endParaRPr lang="en-US" sz="1100">
              <a:latin typeface="Times New Roman"/>
              <a:cs typeface="Segoe UI"/>
            </a:endParaRPr>
          </a:p>
          <a:p>
            <a:pPr marL="171450" indent="-171450">
              <a:buFont typeface="Wingdings"/>
              <a:buChar char="Ø"/>
            </a:pPr>
            <a:endParaRPr lang="en-US" sz="1200" b="1">
              <a:latin typeface="Times New Roman"/>
              <a:ea typeface="Calibri"/>
              <a:cs typeface="Times New Roman"/>
            </a:endParaRPr>
          </a:p>
          <a:p>
            <a:pPr marL="171450" indent="-171450">
              <a:buFont typeface="Wingdings"/>
              <a:buChar char="Ø"/>
            </a:pPr>
            <a:endParaRPr lang="en-US" sz="1200" b="1">
              <a:latin typeface="Times New Roman"/>
              <a:ea typeface="Calibri"/>
              <a:cs typeface="Calibri"/>
            </a:endParaRPr>
          </a:p>
        </p:txBody>
      </p:sp>
    </p:spTree>
    <p:extLst>
      <p:ext uri="{BB962C8B-B14F-4D97-AF65-F5344CB8AC3E}">
        <p14:creationId xmlns:p14="http://schemas.microsoft.com/office/powerpoint/2010/main" val="784217245"/>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6">
            <a:extLst>
              <a:ext uri="{FF2B5EF4-FFF2-40B4-BE49-F238E27FC236}">
                <a16:creationId xmlns:a16="http://schemas.microsoft.com/office/drawing/2014/main" id="{3C9B6AF2-13C1-4C17-877F-0AFFF0A04DC9}"/>
              </a:ext>
            </a:extLst>
          </p:cNvPr>
          <p:cNvSpPr/>
          <p:nvPr/>
        </p:nvSpPr>
        <p:spPr>
          <a:xfrm>
            <a:off x="367553" y="762000"/>
            <a:ext cx="470647" cy="0"/>
          </a:xfrm>
          <a:custGeom>
            <a:avLst/>
            <a:gdLst/>
            <a:ahLst/>
            <a:cxnLst/>
            <a:rect l="l" t="t" r="r" b="b"/>
            <a:pathLst>
              <a:path w="533400">
                <a:moveTo>
                  <a:pt x="0" y="0"/>
                </a:moveTo>
                <a:lnTo>
                  <a:pt x="532853" y="0"/>
                </a:lnTo>
              </a:path>
            </a:pathLst>
          </a:custGeom>
          <a:ln w="19050">
            <a:solidFill>
              <a:srgbClr val="F37522"/>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 name="Picture 2" descr="A close up of a logo&#10;&#10;Description generated with very high confidence">
            <a:extLst>
              <a:ext uri="{FF2B5EF4-FFF2-40B4-BE49-F238E27FC236}">
                <a16:creationId xmlns:a16="http://schemas.microsoft.com/office/drawing/2014/main" id="{5E9F18E2-2DB7-47A6-95F0-CF572077A12D}"/>
              </a:ext>
            </a:extLst>
          </p:cNvPr>
          <p:cNvPicPr>
            <a:picLocks noChangeAspect="1"/>
          </p:cNvPicPr>
          <p:nvPr/>
        </p:nvPicPr>
        <p:blipFill>
          <a:blip r:embed="rId2"/>
          <a:stretch>
            <a:fillRect/>
          </a:stretch>
        </p:blipFill>
        <p:spPr>
          <a:xfrm>
            <a:off x="371935" y="6255136"/>
            <a:ext cx="1454182" cy="543754"/>
          </a:xfrm>
          <a:prstGeom prst="rect">
            <a:avLst/>
          </a:prstGeom>
        </p:spPr>
      </p:pic>
      <p:sp>
        <p:nvSpPr>
          <p:cNvPr id="5" name="object 2">
            <a:extLst>
              <a:ext uri="{FF2B5EF4-FFF2-40B4-BE49-F238E27FC236}">
                <a16:creationId xmlns:a16="http://schemas.microsoft.com/office/drawing/2014/main" id="{3392EF89-9419-E1DD-D6D6-2F4FCE33C5C4}"/>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7" name="object 10">
            <a:extLst>
              <a:ext uri="{FF2B5EF4-FFF2-40B4-BE49-F238E27FC236}">
                <a16:creationId xmlns:a16="http://schemas.microsoft.com/office/drawing/2014/main" id="{122C015D-88DB-5A1E-43E3-CC7A1241BCA0}"/>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558FDB6-B3DC-9E7D-3A7A-DE5523BC2831}"/>
              </a:ext>
            </a:extLst>
          </p:cNvPr>
          <p:cNvSpPr txBox="1"/>
          <p:nvPr/>
        </p:nvSpPr>
        <p:spPr>
          <a:xfrm>
            <a:off x="485913" y="977348"/>
            <a:ext cx="342347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latin typeface="Times New Roman"/>
                <a:cs typeface="Times New Roman"/>
              </a:rPr>
              <a:t>Pricing Analysis </a:t>
            </a:r>
            <a:endParaRPr lang="en-US" sz="2400">
              <a:latin typeface="Times New Roman"/>
              <a:cs typeface="Times New Roman"/>
            </a:endParaRPr>
          </a:p>
          <a:p>
            <a:pPr algn="l"/>
            <a:endParaRPr lang="en-US">
              <a:ea typeface="Calibri"/>
              <a:cs typeface="Calibri"/>
            </a:endParaRPr>
          </a:p>
        </p:txBody>
      </p:sp>
      <p:sp>
        <p:nvSpPr>
          <p:cNvPr id="10" name="TextBox 9">
            <a:extLst>
              <a:ext uri="{FF2B5EF4-FFF2-40B4-BE49-F238E27FC236}">
                <a16:creationId xmlns:a16="http://schemas.microsoft.com/office/drawing/2014/main" id="{BDC06C12-4639-C2AF-EB30-E9C7152CE513}"/>
              </a:ext>
            </a:extLst>
          </p:cNvPr>
          <p:cNvSpPr txBox="1"/>
          <p:nvPr/>
        </p:nvSpPr>
        <p:spPr>
          <a:xfrm>
            <a:off x="369954" y="1700694"/>
            <a:ext cx="5991084" cy="48257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latin typeface="Times New Roman"/>
                <a:ea typeface="Calibri"/>
                <a:cs typeface="Times New Roman"/>
              </a:rPr>
              <a:t>Pricing range is determined based on current NOI &amp; Legal Status / Regulatory factors. </a:t>
            </a:r>
            <a:endParaRPr lang="en-US" sz="1600">
              <a:latin typeface="Calibri"/>
              <a:ea typeface="Calibri"/>
              <a:cs typeface="Calibri"/>
            </a:endParaRPr>
          </a:p>
          <a:p>
            <a:endParaRPr lang="en-US" sz="1600" b="1" i="1">
              <a:latin typeface="Times New Roman"/>
              <a:ea typeface="Calibri"/>
              <a:cs typeface="Times New Roman"/>
            </a:endParaRPr>
          </a:p>
          <a:p>
            <a:pPr marL="285750" indent="-285750">
              <a:buFont typeface="Wingdings"/>
              <a:buChar char="Ø"/>
            </a:pPr>
            <a:endParaRPr lang="en-US" sz="1400" b="1" i="1">
              <a:latin typeface="Times New Roman"/>
              <a:ea typeface="Calibri"/>
              <a:cs typeface="Times New Roman"/>
            </a:endParaRPr>
          </a:p>
          <a:p>
            <a:r>
              <a:rPr lang="en-US" sz="1600" b="1">
                <a:latin typeface="Times New Roman"/>
                <a:ea typeface="Calibri"/>
                <a:cs typeface="Calibri"/>
              </a:rPr>
              <a:t>Price Range</a:t>
            </a:r>
            <a:r>
              <a:rPr lang="en-US" sz="1600" b="1">
                <a:latin typeface="Calibri"/>
                <a:ea typeface="Calibri"/>
                <a:cs typeface="Calibri"/>
              </a:rPr>
              <a:t>      </a:t>
            </a:r>
            <a:endParaRPr lang="en-US" sz="1600" b="1">
              <a:ea typeface="Calibri"/>
              <a:cs typeface="Calibri"/>
            </a:endParaRPr>
          </a:p>
          <a:p>
            <a:pPr marL="285750" indent="-285750">
              <a:buFont typeface="Wingdings"/>
              <a:buChar char="Ø"/>
            </a:pPr>
            <a:r>
              <a:rPr lang="en-US" sz="1600" b="1">
                <a:latin typeface="Times New Roman"/>
                <a:ea typeface="Calibri"/>
                <a:cs typeface="Calibri"/>
              </a:rPr>
              <a:t>INPUT RANGE (HIGH TO LOW)                   </a:t>
            </a:r>
            <a:endParaRPr lang="en-US" sz="1600">
              <a:latin typeface="Times New Roman"/>
              <a:ea typeface="Calibri"/>
              <a:cs typeface="Calibri"/>
            </a:endParaRPr>
          </a:p>
          <a:p>
            <a:pPr marL="285750" indent="-285750">
              <a:buFont typeface="Wingdings"/>
              <a:buChar char="Ø"/>
            </a:pPr>
            <a:endParaRPr lang="en-US" sz="1600">
              <a:latin typeface="Times New Roman"/>
              <a:ea typeface="Calibri"/>
              <a:cs typeface="Calibri"/>
            </a:endParaRPr>
          </a:p>
          <a:p>
            <a:pPr marL="285750" indent="-285750">
              <a:buFont typeface="Wingdings"/>
              <a:buChar char="Ø"/>
            </a:pPr>
            <a:endParaRPr lang="en-US" sz="1600">
              <a:latin typeface="Times New Roman"/>
              <a:ea typeface="Calibri"/>
              <a:cs typeface="Calibri"/>
            </a:endParaRPr>
          </a:p>
          <a:p>
            <a:r>
              <a:rPr lang="en-US" sz="1600" b="1">
                <a:latin typeface="Times New Roman"/>
                <a:ea typeface="Calibri"/>
                <a:cs typeface="Calibri"/>
              </a:rPr>
              <a:t>Deliverables of Sales Process</a:t>
            </a:r>
          </a:p>
          <a:p>
            <a:pPr marL="285750" indent="-285750">
              <a:buFont typeface="Wingdings"/>
              <a:buChar char="Ø"/>
            </a:pPr>
            <a:r>
              <a:rPr lang="en-US" sz="1600">
                <a:latin typeface="Times New Roman"/>
                <a:ea typeface="Calibri"/>
                <a:cs typeface="Calibri"/>
              </a:rPr>
              <a:t>Offers in Writing:</a:t>
            </a:r>
            <a:r>
              <a:rPr lang="en-US" sz="1600" b="1">
                <a:latin typeface="Times New Roman"/>
                <a:ea typeface="Calibri"/>
                <a:cs typeface="Calibri"/>
              </a:rPr>
              <a:t> 5-10</a:t>
            </a:r>
          </a:p>
          <a:p>
            <a:pPr marL="285750" indent="-285750">
              <a:buFont typeface="Wingdings"/>
              <a:buChar char="Ø"/>
            </a:pPr>
            <a:r>
              <a:rPr lang="en-US" sz="1600">
                <a:latin typeface="Times New Roman"/>
                <a:ea typeface="Calibri"/>
                <a:cs typeface="Calibri"/>
              </a:rPr>
              <a:t>Property Tours:</a:t>
            </a:r>
            <a:r>
              <a:rPr lang="en-US" sz="1600" b="1">
                <a:latin typeface="Times New Roman"/>
                <a:ea typeface="Calibri"/>
                <a:cs typeface="Calibri"/>
              </a:rPr>
              <a:t> 10-15</a:t>
            </a:r>
          </a:p>
          <a:p>
            <a:pPr marL="285750" indent="-285750">
              <a:buFont typeface="Wingdings"/>
              <a:buChar char="Ø"/>
            </a:pPr>
            <a:endParaRPr lang="en-US" sz="1600">
              <a:latin typeface="Times New Roman"/>
              <a:ea typeface="Calibri"/>
              <a:cs typeface="Calibri"/>
            </a:endParaRPr>
          </a:p>
          <a:p>
            <a:pPr marL="285750" indent="-285750">
              <a:buFont typeface="Wingdings"/>
              <a:buChar char="Ø"/>
            </a:pPr>
            <a:endParaRPr lang="en-US" sz="1600">
              <a:latin typeface="Times New Roman"/>
              <a:ea typeface="Calibri"/>
              <a:cs typeface="Calibri"/>
            </a:endParaRPr>
          </a:p>
          <a:p>
            <a:r>
              <a:rPr lang="en-US" sz="1600" b="1">
                <a:latin typeface="Times New Roman"/>
                <a:ea typeface="Calibri"/>
                <a:cs typeface="Calibri"/>
              </a:rPr>
              <a:t>Typical Transaction Timeline</a:t>
            </a:r>
          </a:p>
          <a:p>
            <a:pPr marL="285750" indent="-285750">
              <a:buFont typeface="Wingdings"/>
              <a:buChar char="Ø"/>
            </a:pPr>
            <a:r>
              <a:rPr lang="en-US" sz="1600">
                <a:latin typeface="Times New Roman"/>
                <a:ea typeface="Calibri"/>
                <a:cs typeface="Calibri"/>
              </a:rPr>
              <a:t>Signed Contract: </a:t>
            </a:r>
            <a:r>
              <a:rPr lang="en-US" sz="1600" b="1">
                <a:latin typeface="Times New Roman"/>
                <a:ea typeface="Calibri"/>
                <a:cs typeface="Calibri"/>
              </a:rPr>
              <a:t>2 – 4 months</a:t>
            </a:r>
          </a:p>
          <a:p>
            <a:pPr marL="285750" indent="-285750">
              <a:buFont typeface="Wingdings"/>
              <a:buChar char="Ø"/>
            </a:pPr>
            <a:r>
              <a:rPr lang="en-US" sz="1600">
                <a:latin typeface="Times New Roman"/>
                <a:ea typeface="Calibri"/>
                <a:cs typeface="Calibri"/>
              </a:rPr>
              <a:t>Closed Sale: </a:t>
            </a:r>
            <a:r>
              <a:rPr lang="en-US" sz="1600" b="1">
                <a:latin typeface="Times New Roman"/>
                <a:ea typeface="Calibri"/>
                <a:cs typeface="Calibri"/>
              </a:rPr>
              <a:t>3 – 5 months</a:t>
            </a:r>
          </a:p>
          <a:p>
            <a:pPr marL="285750" indent="-285750">
              <a:buFont typeface="Wingdings"/>
              <a:buChar char="Ø"/>
            </a:pPr>
            <a:r>
              <a:rPr lang="en-US" sz="1600">
                <a:latin typeface="Times New Roman"/>
                <a:ea typeface="Calibri"/>
                <a:cs typeface="Calibri"/>
              </a:rPr>
              <a:t>Completed 1031 Exchange: </a:t>
            </a:r>
            <a:r>
              <a:rPr lang="en-US" sz="1600" b="1">
                <a:latin typeface="Times New Roman"/>
                <a:ea typeface="Calibri"/>
                <a:cs typeface="Calibri"/>
              </a:rPr>
              <a:t>5 – 7 months</a:t>
            </a:r>
          </a:p>
          <a:p>
            <a:pPr marL="285750" lvl="1" indent="-285750">
              <a:spcAft>
                <a:spcPts val="800"/>
              </a:spcAft>
              <a:buFont typeface="Wingdings"/>
              <a:buChar char="Ø"/>
            </a:pPr>
            <a:endParaRPr lang="en-US" sz="1600" b="1">
              <a:latin typeface="Times New Roman"/>
              <a:ea typeface="Calibri"/>
              <a:cs typeface="Times New Roman"/>
            </a:endParaRPr>
          </a:p>
          <a:p>
            <a:pPr marL="285750" indent="-285750">
              <a:buFont typeface="Wingdings"/>
              <a:buChar char="Ø"/>
            </a:pPr>
            <a:endParaRPr lang="en-US" sz="1600">
              <a:latin typeface="Times New Roman"/>
              <a:ea typeface="Calibri"/>
              <a:cs typeface="Calibri"/>
            </a:endParaRPr>
          </a:p>
        </p:txBody>
      </p:sp>
      <p:pic>
        <p:nvPicPr>
          <p:cNvPr id="15" name="Picture 14" descr="Empire State Building - Wikipedia">
            <a:extLst>
              <a:ext uri="{FF2B5EF4-FFF2-40B4-BE49-F238E27FC236}">
                <a16:creationId xmlns:a16="http://schemas.microsoft.com/office/drawing/2014/main" id="{04F81600-F8E6-873A-B70C-227303F1D3CA}"/>
              </a:ext>
            </a:extLst>
          </p:cNvPr>
          <p:cNvPicPr>
            <a:picLocks noChangeAspect="1"/>
          </p:cNvPicPr>
          <p:nvPr/>
        </p:nvPicPr>
        <p:blipFill>
          <a:blip r:embed="rId3"/>
          <a:stretch>
            <a:fillRect/>
          </a:stretch>
        </p:blipFill>
        <p:spPr>
          <a:xfrm>
            <a:off x="6501158" y="681868"/>
            <a:ext cx="2270814" cy="5742745"/>
          </a:xfrm>
          <a:prstGeom prst="rect">
            <a:avLst/>
          </a:prstGeom>
        </p:spPr>
      </p:pic>
    </p:spTree>
    <p:extLst>
      <p:ext uri="{BB962C8B-B14F-4D97-AF65-F5344CB8AC3E}">
        <p14:creationId xmlns:p14="http://schemas.microsoft.com/office/powerpoint/2010/main" val="1327538180"/>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1117484"/>
            <a:ext cx="9144000" cy="3682253"/>
          </a:xfrm>
          <a:custGeom>
            <a:avLst/>
            <a:gdLst/>
            <a:ahLst/>
            <a:cxnLst/>
            <a:rect l="l" t="t" r="r" b="b"/>
            <a:pathLst>
              <a:path w="9317990" h="4173220">
                <a:moveTo>
                  <a:pt x="0" y="4172686"/>
                </a:moveTo>
                <a:lnTo>
                  <a:pt x="9317710" y="4172686"/>
                </a:lnTo>
                <a:lnTo>
                  <a:pt x="9317710" y="0"/>
                </a:lnTo>
                <a:lnTo>
                  <a:pt x="0" y="0"/>
                </a:lnTo>
                <a:lnTo>
                  <a:pt x="0" y="4172686"/>
                </a:lnTo>
                <a:close/>
              </a:path>
            </a:pathLst>
          </a:custGeom>
          <a:solidFill>
            <a:srgbClr val="000D26">
              <a:alpha val="94999"/>
            </a:srgbClr>
          </a:solidFill>
        </p:spPr>
        <p:txBody>
          <a:bodyPr wrap="square" lIns="0" tIns="0" rIns="0" bIns="0" rtlCol="0"/>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title"/>
          </p:nvPr>
        </p:nvSpPr>
        <p:spPr>
          <a:xfrm>
            <a:off x="-1" y="2324100"/>
            <a:ext cx="8267701" cy="716259"/>
          </a:xfrm>
          <a:prstGeom prst="rect">
            <a:avLst/>
          </a:prstGeom>
        </p:spPr>
        <p:txBody>
          <a:bodyPr vert="horz" wrap="square" lIns="0" tIns="14007" rIns="0" bIns="0" rtlCol="0">
            <a:spAutoFit/>
          </a:bodyPr>
          <a:lstStyle/>
          <a:p>
            <a:pPr marL="1289306" algn="r">
              <a:lnSpc>
                <a:spcPts val="6322"/>
              </a:lnSpc>
              <a:spcBef>
                <a:spcPts val="110"/>
              </a:spcBef>
              <a:tabLst>
                <a:tab pos="2947865" algn="l"/>
              </a:tabLst>
            </a:pPr>
            <a:r>
              <a:rPr lang="en-US" sz="3200">
                <a:latin typeface="Times New Roman" panose="02020603050405020304" pitchFamily="18" charset="0"/>
                <a:cs typeface="Times New Roman" panose="02020603050405020304" pitchFamily="18" charset="0"/>
              </a:rPr>
              <a:t>Exit Strategies</a:t>
            </a:r>
            <a:endParaRPr sz="3200">
              <a:latin typeface="Times New Roman" panose="02020603050405020304" pitchFamily="18" charset="0"/>
              <a:cs typeface="Times New Roman" panose="02020603050405020304" pitchFamily="18" charset="0"/>
            </a:endParaRPr>
          </a:p>
        </p:txBody>
      </p:sp>
      <p:pic>
        <p:nvPicPr>
          <p:cNvPr id="2" name="Picture 5" descr="A close up of a logo&#10;&#10;Description generated with very high confidence">
            <a:extLst>
              <a:ext uri="{FF2B5EF4-FFF2-40B4-BE49-F238E27FC236}">
                <a16:creationId xmlns:a16="http://schemas.microsoft.com/office/drawing/2014/main" id="{36F5DDBF-1558-48F0-9DC9-AD00DB51F025}"/>
              </a:ext>
            </a:extLst>
          </p:cNvPr>
          <p:cNvPicPr>
            <a:picLocks noChangeAspect="1"/>
          </p:cNvPicPr>
          <p:nvPr/>
        </p:nvPicPr>
        <p:blipFill>
          <a:blip r:embed="rId2"/>
          <a:stretch>
            <a:fillRect/>
          </a:stretch>
        </p:blipFill>
        <p:spPr>
          <a:xfrm>
            <a:off x="7255153" y="4250742"/>
            <a:ext cx="1491832" cy="552887"/>
          </a:xfrm>
          <a:prstGeom prst="rect">
            <a:avLst/>
          </a:prstGeom>
        </p:spPr>
      </p:pic>
      <p:sp>
        <p:nvSpPr>
          <p:cNvPr id="4" name="object 2">
            <a:extLst>
              <a:ext uri="{FF2B5EF4-FFF2-40B4-BE49-F238E27FC236}">
                <a16:creationId xmlns:a16="http://schemas.microsoft.com/office/drawing/2014/main" id="{D25EB99A-21A2-E7B1-F487-9C3F3E3FD506}"/>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7" name="object 10">
            <a:extLst>
              <a:ext uri="{FF2B5EF4-FFF2-40B4-BE49-F238E27FC236}">
                <a16:creationId xmlns:a16="http://schemas.microsoft.com/office/drawing/2014/main" id="{D0E601AE-469D-8907-D0F0-BEB6355CB568}"/>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850875"/>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6">
            <a:extLst>
              <a:ext uri="{FF2B5EF4-FFF2-40B4-BE49-F238E27FC236}">
                <a16:creationId xmlns:a16="http://schemas.microsoft.com/office/drawing/2014/main" id="{3C9B6AF2-13C1-4C17-877F-0AFFF0A04DC9}"/>
              </a:ext>
            </a:extLst>
          </p:cNvPr>
          <p:cNvSpPr/>
          <p:nvPr/>
        </p:nvSpPr>
        <p:spPr>
          <a:xfrm>
            <a:off x="367553" y="815228"/>
            <a:ext cx="470647" cy="0"/>
          </a:xfrm>
          <a:custGeom>
            <a:avLst/>
            <a:gdLst/>
            <a:ahLst/>
            <a:cxnLst/>
            <a:rect l="l" t="t" r="r" b="b"/>
            <a:pathLst>
              <a:path w="533400">
                <a:moveTo>
                  <a:pt x="0" y="0"/>
                </a:moveTo>
                <a:lnTo>
                  <a:pt x="532853" y="0"/>
                </a:lnTo>
              </a:path>
            </a:pathLst>
          </a:custGeom>
          <a:ln w="19050">
            <a:solidFill>
              <a:srgbClr val="F37522"/>
            </a:solidFill>
          </a:ln>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F5D097E-1275-4C5C-B4CD-F133825CA24C}"/>
              </a:ext>
            </a:extLst>
          </p:cNvPr>
          <p:cNvSpPr/>
          <p:nvPr/>
        </p:nvSpPr>
        <p:spPr>
          <a:xfrm>
            <a:off x="0" y="1117871"/>
            <a:ext cx="9055227" cy="4950073"/>
          </a:xfrm>
          <a:prstGeom prst="rect">
            <a:avLst/>
          </a:prstGeom>
        </p:spPr>
        <p:txBody>
          <a:bodyPr wrap="square" lIns="91440" tIns="45720" rIns="91440" bIns="45720" anchor="t">
            <a:spAutoFit/>
          </a:bodyPr>
          <a:lstStyle/>
          <a:p>
            <a:pPr marL="342900" lvl="1">
              <a:spcAft>
                <a:spcPts val="1800"/>
              </a:spcAft>
              <a:buClr>
                <a:srgbClr val="ED7D31"/>
              </a:buClr>
              <a:defRPr/>
            </a:pPr>
            <a:r>
              <a:rPr lang="en-US" sz="1600" b="1">
                <a:latin typeface="Times New Roman"/>
                <a:cs typeface="Times New Roman"/>
              </a:rPr>
              <a:t>Exit Strategy #1:  </a:t>
            </a:r>
            <a:r>
              <a:rPr lang="en-US" sz="1600">
                <a:latin typeface="Times New Roman"/>
                <a:cs typeface="Times New Roman"/>
              </a:rPr>
              <a:t>Sell  &gt;  Cash out  &gt;  Pay capital gains taxes</a:t>
            </a:r>
            <a:endParaRPr lang="en-US" sz="1600">
              <a:latin typeface="Times New Roman"/>
              <a:ea typeface="+mn-lt"/>
              <a:cs typeface="Times New Roman"/>
            </a:endParaRPr>
          </a:p>
          <a:p>
            <a:pPr marL="685800" lvl="1" indent="-342900">
              <a:spcAft>
                <a:spcPts val="1200"/>
              </a:spcAft>
              <a:buFont typeface="Wingdings"/>
              <a:buChar char="Ø"/>
              <a:defRPr/>
            </a:pPr>
            <a:r>
              <a:rPr lang="en-US" sz="1600">
                <a:latin typeface="Times New Roman"/>
                <a:cs typeface="Times New Roman"/>
              </a:rPr>
              <a:t>Will refer in house legal advisors to price out potential cash out based on property's current cost basis.</a:t>
            </a:r>
          </a:p>
          <a:p>
            <a:pPr marL="342900" lvl="1">
              <a:spcAft>
                <a:spcPts val="2000"/>
              </a:spcAft>
              <a:buClr>
                <a:srgbClr val="ED7D31"/>
              </a:buClr>
              <a:defRPr/>
            </a:pPr>
            <a:r>
              <a:rPr lang="en-US" sz="1600" b="1">
                <a:latin typeface="Times New Roman"/>
                <a:cs typeface="Times New Roman"/>
              </a:rPr>
              <a:t>Exit Strategy #2:  </a:t>
            </a:r>
            <a:r>
              <a:rPr lang="en-US" sz="1600">
                <a:latin typeface="Times New Roman"/>
                <a:cs typeface="Times New Roman"/>
              </a:rPr>
              <a:t>Sell  &gt;  1031 Exchange  &gt; Reinvest &amp; defer capital gains taxes</a:t>
            </a: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into one property or more than one property. </a:t>
            </a:r>
            <a:endParaRPr lang="en-US" sz="1600">
              <a:latin typeface="Times New Roman"/>
              <a:ea typeface="Calibri"/>
              <a:cs typeface="Times New Roman"/>
            </a:endParaRP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into a property or properties in NYC or outside NYC.</a:t>
            </a: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partially into a condo, a coop or a vacation home.</a:t>
            </a: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into income-producing properties.</a:t>
            </a: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into management intensive or management-free properties (NNN properties).</a:t>
            </a:r>
          </a:p>
          <a:p>
            <a:pPr marL="685800" lvl="1" indent="-342900">
              <a:spcAft>
                <a:spcPts val="1200"/>
              </a:spcAft>
              <a:buClr>
                <a:srgbClr val="ED7D31"/>
              </a:buClr>
              <a:buFont typeface="Wingdings" panose="05000000000000000000" pitchFamily="2" charset="2"/>
              <a:buChar char="Ø"/>
              <a:defRPr/>
            </a:pPr>
            <a:r>
              <a:rPr lang="en-US" sz="1600">
                <a:latin typeface="Times New Roman"/>
                <a:cs typeface="Times New Roman"/>
              </a:rPr>
              <a:t>Exchange into a bigger property using a mortgage.</a:t>
            </a:r>
          </a:p>
          <a:p>
            <a:pPr marL="628650" lvl="1" indent="-285750">
              <a:spcAft>
                <a:spcPts val="1200"/>
              </a:spcAft>
              <a:buClr>
                <a:srgbClr val="ED7D31"/>
              </a:buClr>
              <a:buFont typeface="Wingdings"/>
              <a:buChar char="Ø"/>
              <a:defRPr/>
            </a:pPr>
            <a:endParaRPr lang="en-US" sz="1600">
              <a:latin typeface="Times New Roman"/>
              <a:ea typeface="+mn-lt"/>
              <a:cs typeface="Times New Roman"/>
            </a:endParaRPr>
          </a:p>
          <a:p>
            <a:pPr marL="342900" lvl="1" algn="ctr">
              <a:spcAft>
                <a:spcPts val="1200"/>
              </a:spcAft>
              <a:defRPr/>
            </a:pPr>
            <a:r>
              <a:rPr lang="en-US" sz="1400" i="1">
                <a:latin typeface="Times New Roman"/>
                <a:ea typeface="+mn-lt"/>
                <a:cs typeface="+mn-lt"/>
              </a:rPr>
              <a:t>If a 1031 exchange is pursued, we work in concert with 1031 and NNN specialists to manage the process through to completion. NNN specialists will find properties around the country that best fit client specifications.</a:t>
            </a:r>
          </a:p>
        </p:txBody>
      </p:sp>
      <p:pic>
        <p:nvPicPr>
          <p:cNvPr id="2" name="Picture 2" descr="A close up of a logo&#10;&#10;Description generated with very high confidence">
            <a:extLst>
              <a:ext uri="{FF2B5EF4-FFF2-40B4-BE49-F238E27FC236}">
                <a16:creationId xmlns:a16="http://schemas.microsoft.com/office/drawing/2014/main" id="{7628840A-EF53-4B9D-8FC4-8E338C5A7319}"/>
              </a:ext>
            </a:extLst>
          </p:cNvPr>
          <p:cNvPicPr>
            <a:picLocks noChangeAspect="1"/>
          </p:cNvPicPr>
          <p:nvPr/>
        </p:nvPicPr>
        <p:blipFill>
          <a:blip r:embed="rId2"/>
          <a:stretch>
            <a:fillRect/>
          </a:stretch>
        </p:blipFill>
        <p:spPr>
          <a:xfrm>
            <a:off x="371935" y="6255136"/>
            <a:ext cx="1454182" cy="543754"/>
          </a:xfrm>
          <a:prstGeom prst="rect">
            <a:avLst/>
          </a:prstGeom>
        </p:spPr>
      </p:pic>
      <p:sp>
        <p:nvSpPr>
          <p:cNvPr id="4" name="object 2">
            <a:extLst>
              <a:ext uri="{FF2B5EF4-FFF2-40B4-BE49-F238E27FC236}">
                <a16:creationId xmlns:a16="http://schemas.microsoft.com/office/drawing/2014/main" id="{9EDEAB8B-5AFC-C76E-D4E7-DDD203B09035}"/>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6" name="object 10">
            <a:extLst>
              <a:ext uri="{FF2B5EF4-FFF2-40B4-BE49-F238E27FC236}">
                <a16:creationId xmlns:a16="http://schemas.microsoft.com/office/drawing/2014/main" id="{3840FA3D-0F97-87ED-8AA8-2C7E957E6FC9}"/>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9665456"/>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8" end="8"/>
                                            </p:txEl>
                                          </p:spTgt>
                                        </p:tgtEl>
                                        <p:attrNameLst>
                                          <p:attrName>style.visibility</p:attrName>
                                        </p:attrNameLst>
                                      </p:cBhvr>
                                      <p:to>
                                        <p:strVal val="visible"/>
                                      </p:to>
                                    </p:set>
                                    <p:animEffect transition="in" filter="fade">
                                      <p:cBhvr>
                                        <p:cTn id="7" dur="1500"/>
                                        <p:tgtEl>
                                          <p:spTgt spid="14">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0" end="10"/>
                                            </p:txEl>
                                          </p:spTgt>
                                        </p:tgtEl>
                                        <p:attrNameLst>
                                          <p:attrName>style.visibility</p:attrName>
                                        </p:attrNameLst>
                                      </p:cBhvr>
                                      <p:to>
                                        <p:strVal val="visible"/>
                                      </p:to>
                                    </p:set>
                                    <p:animEffect transition="in" filter="fade">
                                      <p:cBhvr>
                                        <p:cTn id="12" dur="1500"/>
                                        <p:tgtEl>
                                          <p:spTgt spid="14">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animEffect transition="in" filter="fade">
                                      <p:cBhvr>
                                        <p:cTn id="17" dur="1500"/>
                                        <p:tgtEl>
                                          <p:spTgt spid="1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fade">
                                      <p:cBhvr>
                                        <p:cTn id="22" dur="1500"/>
                                        <p:tgtEl>
                                          <p:spTgt spid="1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animEffect transition="in" filter="fade">
                                      <p:cBhvr>
                                        <p:cTn id="27" dur="1500"/>
                                        <p:tgtEl>
                                          <p:spTgt spid="1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4" end="4"/>
                                            </p:txEl>
                                          </p:spTgt>
                                        </p:tgtEl>
                                        <p:attrNameLst>
                                          <p:attrName>style.visibility</p:attrName>
                                        </p:attrNameLst>
                                      </p:cBhvr>
                                      <p:to>
                                        <p:strVal val="visible"/>
                                      </p:to>
                                    </p:set>
                                    <p:animEffect transition="in" filter="fade">
                                      <p:cBhvr>
                                        <p:cTn id="32" dur="1500"/>
                                        <p:tgtEl>
                                          <p:spTgt spid="1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fade">
                                      <p:cBhvr>
                                        <p:cTn id="37" dur="1500"/>
                                        <p:tgtEl>
                                          <p:spTgt spid="1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xEl>
                                              <p:pRg st="1" end="1"/>
                                            </p:txEl>
                                          </p:spTgt>
                                        </p:tgtEl>
                                        <p:attrNameLst>
                                          <p:attrName>style.visibility</p:attrName>
                                        </p:attrNameLst>
                                      </p:cBhvr>
                                      <p:to>
                                        <p:strVal val="visible"/>
                                      </p:to>
                                    </p:set>
                                    <p:animEffect transition="in" filter="fade">
                                      <p:cBhvr>
                                        <p:cTn id="42" dur="1500"/>
                                        <p:tgtEl>
                                          <p:spTgt spid="1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2" end="2"/>
                                            </p:txEl>
                                          </p:spTgt>
                                        </p:tgtEl>
                                        <p:attrNameLst>
                                          <p:attrName>style.visibility</p:attrName>
                                        </p:attrNameLst>
                                      </p:cBhvr>
                                      <p:to>
                                        <p:strVal val="visible"/>
                                      </p:to>
                                    </p:set>
                                    <p:animEffect transition="in" filter="fade">
                                      <p:cBhvr>
                                        <p:cTn id="47" dur="1500"/>
                                        <p:tgtEl>
                                          <p:spTgt spid="1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xEl>
                                              <p:pRg st="3" end="3"/>
                                            </p:txEl>
                                          </p:spTgt>
                                        </p:tgtEl>
                                        <p:attrNameLst>
                                          <p:attrName>style.visibility</p:attrName>
                                        </p:attrNameLst>
                                      </p:cBhvr>
                                      <p:to>
                                        <p:strVal val="visible"/>
                                      </p:to>
                                    </p:set>
                                    <p:animEffect transition="in" filter="fade">
                                      <p:cBhvr>
                                        <p:cTn id="52" dur="1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23978-0B37-EA6A-5A90-28E3E769F5FC}"/>
              </a:ext>
            </a:extLst>
          </p:cNvPr>
          <p:cNvSpPr/>
          <p:nvPr/>
        </p:nvSpPr>
        <p:spPr>
          <a:xfrm>
            <a:off x="601322" y="459146"/>
            <a:ext cx="2382383" cy="584775"/>
          </a:xfrm>
          <a:prstGeom prst="rect">
            <a:avLst/>
          </a:prstGeom>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115" indent="-285115">
              <a:spcAft>
                <a:spcPts val="2400"/>
              </a:spcAft>
            </a:pPr>
            <a:r>
              <a:rPr lang="en-US" sz="3200" b="1" cap="small">
                <a:solidFill>
                  <a:srgbClr val="1F325C"/>
                </a:solidFill>
                <a:latin typeface="Times New Roman"/>
                <a:cs typeface="Times New Roman"/>
              </a:rPr>
              <a:t>Case Study</a:t>
            </a:r>
            <a:endParaRPr lang="en-US"/>
          </a:p>
        </p:txBody>
      </p:sp>
      <p:pic>
        <p:nvPicPr>
          <p:cNvPr id="5" name="Picture 4" descr="Several buildings in a city&#10;&#10;AI-generated content may be incorrect.">
            <a:extLst>
              <a:ext uri="{FF2B5EF4-FFF2-40B4-BE49-F238E27FC236}">
                <a16:creationId xmlns:a16="http://schemas.microsoft.com/office/drawing/2014/main" id="{6A679C57-7602-D89C-6DE1-BB53D2B4EF47}"/>
              </a:ext>
            </a:extLst>
          </p:cNvPr>
          <p:cNvPicPr>
            <a:picLocks noChangeAspect="1"/>
          </p:cNvPicPr>
          <p:nvPr/>
        </p:nvPicPr>
        <p:blipFill>
          <a:blip r:embed="rId2"/>
          <a:stretch>
            <a:fillRect/>
          </a:stretch>
        </p:blipFill>
        <p:spPr>
          <a:xfrm>
            <a:off x="437892" y="1046206"/>
            <a:ext cx="5086350" cy="2819400"/>
          </a:xfrm>
          <a:prstGeom prst="rect">
            <a:avLst/>
          </a:prstGeom>
        </p:spPr>
      </p:pic>
      <p:sp>
        <p:nvSpPr>
          <p:cNvPr id="6" name="TextBox 7">
            <a:extLst>
              <a:ext uri="{FF2B5EF4-FFF2-40B4-BE49-F238E27FC236}">
                <a16:creationId xmlns:a16="http://schemas.microsoft.com/office/drawing/2014/main" id="{58B92802-AB16-7C72-742C-E2FC47FD0258}"/>
              </a:ext>
            </a:extLst>
          </p:cNvPr>
          <p:cNvSpPr txBox="1"/>
          <p:nvPr/>
        </p:nvSpPr>
        <p:spPr>
          <a:xfrm>
            <a:off x="325748" y="4170530"/>
            <a:ext cx="6048881" cy="273921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a:buChar char="Ø"/>
            </a:pPr>
            <a:r>
              <a:rPr lang="en-US" sz="1400">
                <a:latin typeface="Times New Roman"/>
                <a:ea typeface="Calibri"/>
                <a:cs typeface="Calibri"/>
              </a:rPr>
              <a:t>The owner decided to sell their building after thirty years of ownership.</a:t>
            </a:r>
          </a:p>
          <a:p>
            <a:endParaRPr lang="en-US" sz="1400">
              <a:latin typeface="Times New Roman"/>
              <a:ea typeface="Calibri"/>
              <a:cs typeface="Calibri"/>
            </a:endParaRPr>
          </a:p>
          <a:p>
            <a:pPr marL="285750" indent="-285750">
              <a:buFont typeface="Wingdings"/>
              <a:buChar char="Ø"/>
            </a:pPr>
            <a:r>
              <a:rPr lang="en-US" sz="1400">
                <a:latin typeface="Times New Roman"/>
                <a:ea typeface="Calibri"/>
                <a:cs typeface="Calibri"/>
              </a:rPr>
              <a:t>The owner exchanged into two Net-Lease properties in two different states. </a:t>
            </a:r>
          </a:p>
          <a:p>
            <a:endParaRPr lang="en-US" sz="1400">
              <a:latin typeface="Times New Roman"/>
              <a:ea typeface="Calibri"/>
              <a:cs typeface="Calibri"/>
            </a:endParaRPr>
          </a:p>
          <a:p>
            <a:pPr marL="285750" indent="-285750">
              <a:buFont typeface="Wingdings"/>
              <a:buChar char="Ø"/>
            </a:pPr>
            <a:r>
              <a:rPr lang="en-US" sz="1400">
                <a:latin typeface="Times New Roman"/>
                <a:ea typeface="Calibri"/>
                <a:cs typeface="Calibri"/>
              </a:rPr>
              <a:t>Long-term leases and minimal to no management </a:t>
            </a:r>
          </a:p>
          <a:p>
            <a:endParaRPr lang="en-US" sz="1400">
              <a:latin typeface="Times New Roman"/>
              <a:ea typeface="Calibri"/>
              <a:cs typeface="Calibri"/>
            </a:endParaRPr>
          </a:p>
          <a:p>
            <a:pPr marL="285750" indent="-285750">
              <a:buFont typeface="Wingdings"/>
              <a:buChar char="Ø"/>
            </a:pPr>
            <a:r>
              <a:rPr lang="en-US" sz="1400">
                <a:latin typeface="Times New Roman"/>
                <a:ea typeface="Calibri"/>
                <a:cs typeface="Calibri"/>
              </a:rPr>
              <a:t>The owner reinvested all $2,300,000 that would have been owed to the IRS for capital gains taxes.</a:t>
            </a:r>
          </a:p>
          <a:p>
            <a:endParaRPr lang="en-US" sz="1400">
              <a:latin typeface="Times New Roman"/>
              <a:ea typeface="Calibri"/>
              <a:cs typeface="Calibri"/>
            </a:endParaRPr>
          </a:p>
          <a:p>
            <a:pPr marL="285750" indent="-285750">
              <a:buFont typeface="Wingdings"/>
              <a:buChar char="Ø"/>
            </a:pPr>
            <a:r>
              <a:rPr lang="en-US" sz="1400">
                <a:latin typeface="Times New Roman"/>
                <a:ea typeface="Calibri"/>
                <a:cs typeface="Calibri"/>
              </a:rPr>
              <a:t>The owner adds more than $110,000 to their annual net income </a:t>
            </a:r>
          </a:p>
          <a:p>
            <a:endParaRPr lang="en-US" sz="1400" i="1">
              <a:latin typeface="Times New Roman"/>
              <a:ea typeface="Calibri"/>
              <a:cs typeface="Calibri"/>
            </a:endParaRPr>
          </a:p>
          <a:p>
            <a:endParaRPr lang="en-US">
              <a:ea typeface="Calibri"/>
              <a:cs typeface="Calibri"/>
            </a:endParaRPr>
          </a:p>
        </p:txBody>
      </p:sp>
      <p:pic>
        <p:nvPicPr>
          <p:cNvPr id="7" name="Picture 6" descr="A blue background with white text&#10;&#10;AI-generated content may be incorrect.">
            <a:extLst>
              <a:ext uri="{FF2B5EF4-FFF2-40B4-BE49-F238E27FC236}">
                <a16:creationId xmlns:a16="http://schemas.microsoft.com/office/drawing/2014/main" id="{4E547BF7-410E-6DC4-BCA8-39172E0A4EA1}"/>
              </a:ext>
            </a:extLst>
          </p:cNvPr>
          <p:cNvPicPr>
            <a:picLocks noChangeAspect="1"/>
          </p:cNvPicPr>
          <p:nvPr/>
        </p:nvPicPr>
        <p:blipFill>
          <a:blip r:embed="rId3"/>
          <a:stretch>
            <a:fillRect/>
          </a:stretch>
        </p:blipFill>
        <p:spPr>
          <a:xfrm>
            <a:off x="6714223" y="576262"/>
            <a:ext cx="1914525" cy="5705475"/>
          </a:xfrm>
          <a:prstGeom prst="rect">
            <a:avLst/>
          </a:prstGeom>
        </p:spPr>
      </p:pic>
      <p:sp>
        <p:nvSpPr>
          <p:cNvPr id="3" name="object 2">
            <a:extLst>
              <a:ext uri="{FF2B5EF4-FFF2-40B4-BE49-F238E27FC236}">
                <a16:creationId xmlns:a16="http://schemas.microsoft.com/office/drawing/2014/main" id="{4810FFC3-D2E4-812D-D623-6A6D10FD40F9}"/>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6729DE9D-0E6C-B465-B202-A1E57C1EE4E0}"/>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4694194"/>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BB46D6-2824-4FA1-8D7C-5869F72C0EDE}"/>
              </a:ext>
            </a:extLst>
          </p:cNvPr>
          <p:cNvSpPr txBox="1"/>
          <p:nvPr/>
        </p:nvSpPr>
        <p:spPr>
          <a:xfrm>
            <a:off x="8077200" y="6210300"/>
            <a:ext cx="1066800" cy="647700"/>
          </a:xfrm>
          <a:prstGeom prst="rect">
            <a:avLst/>
          </a:prstGeom>
          <a:solidFill>
            <a:schemeClr val="bg1"/>
          </a:solidFill>
        </p:spPr>
        <p:txBody>
          <a:bodyPr wrap="square" rtlCol="0">
            <a:spAutoFit/>
          </a:bodyPr>
          <a:lstStyle/>
          <a:p>
            <a:endParaRPr lang="en-US"/>
          </a:p>
        </p:txBody>
      </p:sp>
      <p:pic>
        <p:nvPicPr>
          <p:cNvPr id="3" name="Picture 2" descr="A close up of a logo&#10;&#10;Description generated with very high confidence">
            <a:extLst>
              <a:ext uri="{FF2B5EF4-FFF2-40B4-BE49-F238E27FC236}">
                <a16:creationId xmlns:a16="http://schemas.microsoft.com/office/drawing/2014/main" id="{B7F0091D-129F-4C79-A6F2-1A84E28C1B1E}"/>
              </a:ext>
            </a:extLst>
          </p:cNvPr>
          <p:cNvPicPr>
            <a:picLocks noChangeAspect="1"/>
          </p:cNvPicPr>
          <p:nvPr/>
        </p:nvPicPr>
        <p:blipFill>
          <a:blip r:embed="rId2"/>
          <a:stretch>
            <a:fillRect/>
          </a:stretch>
        </p:blipFill>
        <p:spPr>
          <a:xfrm>
            <a:off x="3846252" y="6214854"/>
            <a:ext cx="1454182" cy="543754"/>
          </a:xfrm>
          <a:prstGeom prst="rect">
            <a:avLst/>
          </a:prstGeom>
        </p:spPr>
      </p:pic>
      <p:sp>
        <p:nvSpPr>
          <p:cNvPr id="6" name="object 2">
            <a:extLst>
              <a:ext uri="{FF2B5EF4-FFF2-40B4-BE49-F238E27FC236}">
                <a16:creationId xmlns:a16="http://schemas.microsoft.com/office/drawing/2014/main" id="{B2EC8EE9-848F-F13A-ACA1-A32768A7B610}"/>
              </a:ext>
            </a:extLst>
          </p:cNvPr>
          <p:cNvSpPr/>
          <p:nvPr/>
        </p:nvSpPr>
        <p:spPr>
          <a:xfrm rot="5400000">
            <a:off x="4420161" y="-4259626"/>
            <a:ext cx="303679" cy="9144001"/>
          </a:xfrm>
          <a:custGeom>
            <a:avLst/>
            <a:gdLst/>
            <a:ahLst/>
            <a:cxnLst/>
            <a:rect l="l" t="t" r="r" b="b"/>
            <a:pathLst>
              <a:path w="344170" h="7772400">
                <a:moveTo>
                  <a:pt x="0" y="7772400"/>
                </a:moveTo>
                <a:lnTo>
                  <a:pt x="343814" y="7772400"/>
                </a:lnTo>
                <a:lnTo>
                  <a:pt x="343814" y="0"/>
                </a:lnTo>
                <a:lnTo>
                  <a:pt x="0" y="0"/>
                </a:lnTo>
                <a:lnTo>
                  <a:pt x="0" y="7772400"/>
                </a:lnTo>
                <a:close/>
              </a:path>
            </a:pathLst>
          </a:custGeom>
          <a:solidFill>
            <a:srgbClr val="C8C8C8"/>
          </a:solidFill>
        </p:spPr>
        <p:txBody>
          <a:bodyPr wrap="square" lIns="0" tIns="0" rIns="0" bIns="0" rtlCol="0"/>
          <a:lstStyle/>
          <a:p>
            <a:endParaRPr sz="1588">
              <a:latin typeface="Times New Roman" panose="02020603050405020304" pitchFamily="18" charset="0"/>
              <a:cs typeface="Times New Roman" panose="02020603050405020304" pitchFamily="18" charset="0"/>
            </a:endParaRPr>
          </a:p>
        </p:txBody>
      </p:sp>
      <p:sp>
        <p:nvSpPr>
          <p:cNvPr id="8" name="object 10">
            <a:extLst>
              <a:ext uri="{FF2B5EF4-FFF2-40B4-BE49-F238E27FC236}">
                <a16:creationId xmlns:a16="http://schemas.microsoft.com/office/drawing/2014/main" id="{A7E8FFE7-EB2B-F1C3-8701-BBC9DF6083F0}"/>
              </a:ext>
            </a:extLst>
          </p:cNvPr>
          <p:cNvSpPr txBox="1"/>
          <p:nvPr/>
        </p:nvSpPr>
        <p:spPr>
          <a:xfrm rot="5400000">
            <a:off x="4446250" y="-4259627"/>
            <a:ext cx="161583" cy="9144002"/>
          </a:xfrm>
          <a:prstGeom prst="rect">
            <a:avLst/>
          </a:prstGeom>
        </p:spPr>
        <p:txBody>
          <a:bodyPr vert="vert270" wrap="square" lIns="0" tIns="11766" rIns="0" bIns="0" rtlCol="0" anchor="ctr">
            <a:spAutoFit/>
          </a:bodyPr>
          <a:lstStyle/>
          <a:p>
            <a:pPr marL="10795" algn="ctr" defTabSz="806867">
              <a:spcBef>
                <a:spcPts val="93"/>
              </a:spcBef>
              <a:tabLst>
                <a:tab pos="372055" algn="l"/>
                <a:tab pos="801824" algn="l"/>
              </a:tabLst>
            </a:pPr>
            <a:r>
              <a:rPr lang="en-US" sz="1050" b="1" spc="132">
                <a:solidFill>
                  <a:srgbClr val="414042"/>
                </a:solidFill>
                <a:latin typeface="Times New Roman"/>
                <a:cs typeface="Times New Roman"/>
              </a:rPr>
              <a:t>Stewart Group at Marcus &amp; Millichap</a:t>
            </a:r>
            <a:endParaRPr lang="en-US" sz="1050" b="1" spc="132">
              <a:solidFill>
                <a:srgbClr val="414042"/>
              </a:solidFill>
              <a:latin typeface="Times New Roman" panose="02020603050405020304" pitchFamily="18" charset="0"/>
              <a:cs typeface="Times New Roman" panose="02020603050405020304" pitchFamily="18" charset="0"/>
            </a:endParaRPr>
          </a:p>
        </p:txBody>
      </p:sp>
      <p:sp>
        <p:nvSpPr>
          <p:cNvPr id="24" name="object 5">
            <a:extLst>
              <a:ext uri="{FF2B5EF4-FFF2-40B4-BE49-F238E27FC236}">
                <a16:creationId xmlns:a16="http://schemas.microsoft.com/office/drawing/2014/main" id="{9D133B4D-7FC5-4180-AAA5-B7A1E306B834}"/>
              </a:ext>
            </a:extLst>
          </p:cNvPr>
          <p:cNvSpPr/>
          <p:nvPr/>
        </p:nvSpPr>
        <p:spPr>
          <a:xfrm>
            <a:off x="0" y="1162641"/>
            <a:ext cx="9155043" cy="1718603"/>
          </a:xfrm>
          <a:custGeom>
            <a:avLst/>
            <a:gdLst/>
            <a:ahLst/>
            <a:cxnLst/>
            <a:rect l="l" t="t" r="r" b="b"/>
            <a:pathLst>
              <a:path w="9317990" h="4173220">
                <a:moveTo>
                  <a:pt x="0" y="4172686"/>
                </a:moveTo>
                <a:lnTo>
                  <a:pt x="9317710" y="4172686"/>
                </a:lnTo>
                <a:lnTo>
                  <a:pt x="9317710" y="0"/>
                </a:lnTo>
                <a:lnTo>
                  <a:pt x="0" y="0"/>
                </a:lnTo>
                <a:lnTo>
                  <a:pt x="0" y="4172686"/>
                </a:lnTo>
                <a:close/>
              </a:path>
            </a:pathLst>
          </a:custGeom>
          <a:solidFill>
            <a:srgbClr val="000D26">
              <a:alpha val="94999"/>
            </a:srgbClr>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a:endParaRPr sz="1588">
              <a:solidFill>
                <a:prstClr val="black"/>
              </a:solidFill>
              <a:latin typeface="Times New Roman" panose="02020603050405020304" pitchFamily="18" charset="0"/>
              <a:cs typeface="Times New Roman" panose="02020603050405020304" pitchFamily="18" charset="0"/>
            </a:endParaRPr>
          </a:p>
        </p:txBody>
      </p:sp>
      <p:sp>
        <p:nvSpPr>
          <p:cNvPr id="25" name="TextBox 11">
            <a:extLst>
              <a:ext uri="{FF2B5EF4-FFF2-40B4-BE49-F238E27FC236}">
                <a16:creationId xmlns:a16="http://schemas.microsoft.com/office/drawing/2014/main" id="{3BAFBA8E-5C57-4E2B-94A5-B8AE402E6E17}"/>
              </a:ext>
            </a:extLst>
          </p:cNvPr>
          <p:cNvSpPr txBox="1"/>
          <p:nvPr/>
        </p:nvSpPr>
        <p:spPr>
          <a:xfrm>
            <a:off x="1165087" y="1342961"/>
            <a:ext cx="3194770" cy="1600438"/>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a:solidFill>
                  <a:srgbClr val="F37522"/>
                </a:solidFill>
                <a:latin typeface="Times New Roman"/>
                <a:cs typeface="Times New Roman"/>
              </a:rPr>
              <a:t>JOHN J. STEWART</a:t>
            </a:r>
          </a:p>
          <a:p>
            <a:pPr algn="ctr"/>
            <a:r>
              <a:rPr lang="en-US" sz="1400">
                <a:solidFill>
                  <a:schemeClr val="bg1"/>
                </a:solidFill>
                <a:latin typeface="Times New Roman"/>
                <a:cs typeface="Times New Roman"/>
              </a:rPr>
              <a:t>Senior Vice President Investments</a:t>
            </a:r>
          </a:p>
          <a:p>
            <a:pPr algn="ctr"/>
            <a:r>
              <a:rPr lang="en-US" sz="1400">
                <a:solidFill>
                  <a:schemeClr val="bg1"/>
                </a:solidFill>
                <a:latin typeface="Times New Roman"/>
                <a:cs typeface="Times New Roman"/>
              </a:rPr>
              <a:t>Associate Broker</a:t>
            </a:r>
          </a:p>
          <a:p>
            <a:pPr algn="ctr"/>
            <a:r>
              <a:rPr lang="en-US" sz="1400">
                <a:solidFill>
                  <a:schemeClr val="bg1"/>
                </a:solidFill>
                <a:latin typeface="Times New Roman"/>
                <a:cs typeface="Times New Roman"/>
              </a:rPr>
              <a:t>Office: (212) 430-5152</a:t>
            </a:r>
          </a:p>
          <a:p>
            <a:pPr algn="ctr"/>
            <a:r>
              <a:rPr lang="en-US" sz="1400">
                <a:solidFill>
                  <a:schemeClr val="bg1"/>
                </a:solidFill>
                <a:latin typeface="Times New Roman"/>
                <a:cs typeface="Times New Roman"/>
              </a:rPr>
              <a:t>Cell-Phone: (917) 292-7388</a:t>
            </a:r>
          </a:p>
          <a:p>
            <a:pPr algn="ctr"/>
            <a:r>
              <a:rPr lang="en-US" sz="1400">
                <a:solidFill>
                  <a:schemeClr val="bg1"/>
                </a:solidFill>
                <a:latin typeface="Times New Roman"/>
                <a:cs typeface="Times New Roman"/>
              </a:rPr>
              <a:t>John.Stewart@MarcusMillichap.com</a:t>
            </a:r>
          </a:p>
          <a:p>
            <a:pPr algn="ctr"/>
            <a:endParaRPr lang="en-US" sz="1400">
              <a:latin typeface="Times New Roman" panose="02020603050405020304" pitchFamily="18" charset="0"/>
              <a:cs typeface="Times New Roman" panose="02020603050405020304" pitchFamily="18" charset="0"/>
            </a:endParaRPr>
          </a:p>
        </p:txBody>
      </p:sp>
      <p:sp>
        <p:nvSpPr>
          <p:cNvPr id="26" name="TextBox 9">
            <a:extLst>
              <a:ext uri="{FF2B5EF4-FFF2-40B4-BE49-F238E27FC236}">
                <a16:creationId xmlns:a16="http://schemas.microsoft.com/office/drawing/2014/main" id="{D9C41319-2F13-4196-ACCF-794936D7EC77}"/>
              </a:ext>
            </a:extLst>
          </p:cNvPr>
          <p:cNvSpPr txBox="1"/>
          <p:nvPr/>
        </p:nvSpPr>
        <p:spPr>
          <a:xfrm>
            <a:off x="4843725" y="1312183"/>
            <a:ext cx="3194770" cy="1600438"/>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rtl="0" fontAlgn="base"/>
            <a:r>
              <a:rPr lang="en-US" sz="1400" b="1" i="0" u="none" strike="noStrike">
                <a:solidFill>
                  <a:srgbClr val="F37522"/>
                </a:solidFill>
                <a:effectLst/>
                <a:latin typeface="Times New Roman"/>
                <a:cs typeface="Times New Roman"/>
              </a:rPr>
              <a:t>DYLAN TOREY</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Senior Associate</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Real Estate Salesperson</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Office: (646) 805-1444</a:t>
            </a:r>
            <a:r>
              <a:rPr lang="en-US" sz="1400" b="0" i="0" u="none" strike="noStrike">
                <a:solidFill>
                  <a:srgbClr val="000000"/>
                </a:solidFill>
                <a:effectLst/>
                <a:latin typeface="Times New Roman"/>
                <a:cs typeface="Times New Roman"/>
              </a:rPr>
              <a:t>​</a:t>
            </a:r>
          </a:p>
          <a:p>
            <a:pPr algn="ctr" rtl="0" fontAlgn="base"/>
            <a:r>
              <a:rPr lang="en-US" sz="1400">
                <a:solidFill>
                  <a:srgbClr val="FFFFFF"/>
                </a:solidFill>
                <a:latin typeface="Times New Roman"/>
                <a:cs typeface="Times New Roman"/>
              </a:rPr>
              <a:t>Cell-Phone</a:t>
            </a:r>
            <a:r>
              <a:rPr lang="en-US" sz="1400" b="0" i="0" u="none" strike="noStrike">
                <a:solidFill>
                  <a:srgbClr val="FFFFFF"/>
                </a:solidFill>
                <a:effectLst/>
                <a:latin typeface="Times New Roman"/>
                <a:cs typeface="Times New Roman"/>
              </a:rPr>
              <a:t>: (203) 984-4588</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Dylan.Torey@MarcusMillichap.com</a:t>
            </a:r>
            <a:endParaRPr lang="en-US" sz="1400">
              <a:latin typeface="Times New Roman"/>
              <a:cs typeface="Times New Roman"/>
            </a:endParaRPr>
          </a:p>
          <a:p>
            <a:pPr algn="ctr"/>
            <a:endParaRPr lang="en-US" sz="1400">
              <a:latin typeface="Times New Roman" panose="02020603050405020304" pitchFamily="18" charset="0"/>
              <a:cs typeface="Times New Roman" panose="02020603050405020304" pitchFamily="18" charset="0"/>
            </a:endParaRPr>
          </a:p>
        </p:txBody>
      </p:sp>
      <p:sp>
        <p:nvSpPr>
          <p:cNvPr id="28" name="object 5">
            <a:extLst>
              <a:ext uri="{FF2B5EF4-FFF2-40B4-BE49-F238E27FC236}">
                <a16:creationId xmlns:a16="http://schemas.microsoft.com/office/drawing/2014/main" id="{674CB988-7E40-A4B8-D426-A81D70ACA1C3}"/>
              </a:ext>
            </a:extLst>
          </p:cNvPr>
          <p:cNvSpPr/>
          <p:nvPr/>
        </p:nvSpPr>
        <p:spPr>
          <a:xfrm>
            <a:off x="-22086" y="3680553"/>
            <a:ext cx="9177130" cy="1751733"/>
          </a:xfrm>
          <a:custGeom>
            <a:avLst/>
            <a:gdLst/>
            <a:ahLst/>
            <a:cxnLst/>
            <a:rect l="l" t="t" r="r" b="b"/>
            <a:pathLst>
              <a:path w="9317990" h="4173220">
                <a:moveTo>
                  <a:pt x="0" y="4172686"/>
                </a:moveTo>
                <a:lnTo>
                  <a:pt x="9317710" y="4172686"/>
                </a:lnTo>
                <a:lnTo>
                  <a:pt x="9317710" y="0"/>
                </a:lnTo>
                <a:lnTo>
                  <a:pt x="0" y="0"/>
                </a:lnTo>
                <a:lnTo>
                  <a:pt x="0" y="4172686"/>
                </a:lnTo>
                <a:close/>
              </a:path>
            </a:pathLst>
          </a:custGeom>
          <a:solidFill>
            <a:srgbClr val="000D26">
              <a:alpha val="94999"/>
            </a:srgbClr>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a:endParaRPr sz="1588">
              <a:solidFill>
                <a:prstClr val="black"/>
              </a:solidFill>
              <a:latin typeface="Times New Roman" panose="02020603050405020304" pitchFamily="18" charset="0"/>
              <a:cs typeface="Times New Roman" panose="02020603050405020304" pitchFamily="18" charset="0"/>
            </a:endParaRPr>
          </a:p>
        </p:txBody>
      </p:sp>
      <p:sp>
        <p:nvSpPr>
          <p:cNvPr id="29" name="TextBox 9">
            <a:extLst>
              <a:ext uri="{FF2B5EF4-FFF2-40B4-BE49-F238E27FC236}">
                <a16:creationId xmlns:a16="http://schemas.microsoft.com/office/drawing/2014/main" id="{65E70C64-829D-E87D-E8E4-3C34B4199BAF}"/>
              </a:ext>
            </a:extLst>
          </p:cNvPr>
          <p:cNvSpPr txBox="1"/>
          <p:nvPr/>
        </p:nvSpPr>
        <p:spPr>
          <a:xfrm>
            <a:off x="1149683" y="3835616"/>
            <a:ext cx="3200292" cy="1600438"/>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a:solidFill>
                  <a:srgbClr val="F37522"/>
                </a:solidFill>
                <a:latin typeface="Times New Roman"/>
                <a:cs typeface="Times New Roman"/>
              </a:rPr>
              <a:t>OLIVIA SCIALLA</a:t>
            </a:r>
            <a:endParaRPr lang="en-US"/>
          </a:p>
          <a:p>
            <a:pPr algn="ctr" rtl="0" fontAlgn="base"/>
            <a:r>
              <a:rPr lang="en-US" sz="1400" b="0" i="0" u="none" strike="noStrike">
                <a:solidFill>
                  <a:srgbClr val="FFFFFF"/>
                </a:solidFill>
                <a:effectLst/>
                <a:latin typeface="Times New Roman"/>
                <a:cs typeface="Times New Roman"/>
              </a:rPr>
              <a:t>Associate</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Real Estate Salesperson</a:t>
            </a:r>
            <a:r>
              <a:rPr lang="en-US" sz="1400" b="0" i="0" u="none" strike="noStrike">
                <a:solidFill>
                  <a:srgbClr val="000000"/>
                </a:solidFill>
                <a:effectLst/>
                <a:latin typeface="Times New Roman"/>
                <a:cs typeface="Times New Roman"/>
              </a:rPr>
              <a:t>​</a:t>
            </a:r>
          </a:p>
          <a:p>
            <a:pPr algn="ctr" fontAlgn="base"/>
            <a:r>
              <a:rPr lang="en-US" sz="1400" b="0" i="0" u="none" strike="noStrike">
                <a:solidFill>
                  <a:srgbClr val="FFFFFF"/>
                </a:solidFill>
                <a:effectLst/>
                <a:latin typeface="Times New Roman"/>
                <a:cs typeface="Times New Roman"/>
              </a:rPr>
              <a:t>Office: (</a:t>
            </a:r>
            <a:r>
              <a:rPr lang="en-US" sz="1400">
                <a:solidFill>
                  <a:srgbClr val="FFFFFF"/>
                </a:solidFill>
                <a:latin typeface="Times New Roman"/>
                <a:cs typeface="Times New Roman"/>
              </a:rPr>
              <a:t>212) 430 - 5187</a:t>
            </a:r>
            <a:endParaRPr lang="en-US" sz="1400" b="0" i="0" u="none" strike="noStrike">
              <a:solidFill>
                <a:srgbClr val="000000"/>
              </a:solidFill>
              <a:effectLst/>
              <a:latin typeface="Times New Roman"/>
              <a:cs typeface="Times New Roman"/>
            </a:endParaRPr>
          </a:p>
          <a:p>
            <a:pPr algn="ctr" fontAlgn="base"/>
            <a:r>
              <a:rPr lang="en-US" sz="1400">
                <a:solidFill>
                  <a:srgbClr val="FFFFFF"/>
                </a:solidFill>
                <a:latin typeface="Times New Roman"/>
                <a:cs typeface="Times New Roman"/>
              </a:rPr>
              <a:t>Cell-Phone</a:t>
            </a:r>
            <a:r>
              <a:rPr lang="en-US" sz="1400" b="0" i="0" u="none" strike="noStrike">
                <a:solidFill>
                  <a:srgbClr val="FFFFFF"/>
                </a:solidFill>
                <a:effectLst/>
                <a:latin typeface="Times New Roman"/>
                <a:cs typeface="Times New Roman"/>
              </a:rPr>
              <a:t>: (</a:t>
            </a:r>
            <a:r>
              <a:rPr lang="en-US" sz="1400">
                <a:solidFill>
                  <a:srgbClr val="FFFFFF"/>
                </a:solidFill>
                <a:latin typeface="Times New Roman"/>
                <a:cs typeface="Times New Roman"/>
              </a:rPr>
              <a:t>973) 479 - 7505</a:t>
            </a:r>
            <a:r>
              <a:rPr lang="en-US" sz="1400" b="0" i="0" u="none" strike="noStrike">
                <a:solidFill>
                  <a:srgbClr val="000000"/>
                </a:solidFill>
                <a:effectLst/>
                <a:latin typeface="Times New Roman"/>
                <a:cs typeface="Times New Roman"/>
              </a:rPr>
              <a:t>​</a:t>
            </a:r>
          </a:p>
          <a:p>
            <a:pPr algn="ctr" rtl="0" fontAlgn="base"/>
            <a:r>
              <a:rPr lang="en-US" sz="1400">
                <a:solidFill>
                  <a:srgbClr val="FFFFFF"/>
                </a:solidFill>
                <a:latin typeface="Times New Roman"/>
                <a:cs typeface="Times New Roman"/>
              </a:rPr>
              <a:t>Olivia.Scialla@</a:t>
            </a:r>
            <a:r>
              <a:rPr lang="en-US" sz="1400" b="0" i="0" u="none" strike="noStrike">
                <a:solidFill>
                  <a:srgbClr val="FFFFFF"/>
                </a:solidFill>
                <a:effectLst/>
                <a:latin typeface="Times New Roman"/>
                <a:cs typeface="Times New Roman"/>
              </a:rPr>
              <a:t>MarcusMillichap.com</a:t>
            </a:r>
            <a:endParaRPr lang="en-US" sz="1400">
              <a:latin typeface="Times New Roman"/>
              <a:cs typeface="Times New Roman"/>
            </a:endParaRPr>
          </a:p>
          <a:p>
            <a:pPr algn="ctr"/>
            <a:endParaRPr lang="en-US" sz="1400">
              <a:latin typeface="Times New Roman" panose="02020603050405020304" pitchFamily="18" charset="0"/>
              <a:cs typeface="Times New Roman" panose="02020603050405020304" pitchFamily="18" charset="0"/>
            </a:endParaRPr>
          </a:p>
        </p:txBody>
      </p:sp>
      <p:sp>
        <p:nvSpPr>
          <p:cNvPr id="30" name="TextBox 3">
            <a:extLst>
              <a:ext uri="{FF2B5EF4-FFF2-40B4-BE49-F238E27FC236}">
                <a16:creationId xmlns:a16="http://schemas.microsoft.com/office/drawing/2014/main" id="{DF914D9A-0FC0-1198-01E1-D18842349471}"/>
              </a:ext>
            </a:extLst>
          </p:cNvPr>
          <p:cNvSpPr txBox="1"/>
          <p:nvPr/>
        </p:nvSpPr>
        <p:spPr>
          <a:xfrm>
            <a:off x="4839361" y="3845632"/>
            <a:ext cx="3178206" cy="1569660"/>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r>
              <a:rPr lang="en-US" sz="1400" b="1">
                <a:solidFill>
                  <a:srgbClr val="F37522"/>
                </a:solidFill>
                <a:latin typeface="Times New Roman"/>
                <a:cs typeface="Times New Roman"/>
              </a:rPr>
              <a:t>THOMAS WINDELS</a:t>
            </a:r>
            <a:endParaRPr lang="en-US" sz="1400" b="0" i="0" u="none" strike="noStrike">
              <a:solidFill>
                <a:srgbClr val="000000"/>
              </a:solidFill>
              <a:effectLst/>
              <a:latin typeface="Times New Roman"/>
              <a:cs typeface="Times New Roman"/>
            </a:endParaRPr>
          </a:p>
          <a:p>
            <a:pPr algn="ctr" rtl="0" fontAlgn="base"/>
            <a:r>
              <a:rPr lang="en-US" sz="1400" b="0" i="0" u="none" strike="noStrike">
                <a:solidFill>
                  <a:srgbClr val="FFFFFF"/>
                </a:solidFill>
                <a:effectLst/>
                <a:latin typeface="Times New Roman"/>
                <a:cs typeface="Times New Roman"/>
              </a:rPr>
              <a:t>Associate</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Real Estate Salesperson</a:t>
            </a:r>
            <a:r>
              <a:rPr lang="en-US" sz="1400" b="0" i="0" u="none" strike="noStrike">
                <a:solidFill>
                  <a:srgbClr val="000000"/>
                </a:solidFill>
                <a:effectLst/>
                <a:latin typeface="Times New Roman"/>
                <a:cs typeface="Times New Roman"/>
              </a:rPr>
              <a:t>​</a:t>
            </a:r>
          </a:p>
          <a:p>
            <a:pPr algn="ctr" rtl="0" fontAlgn="base"/>
            <a:r>
              <a:rPr lang="en-US" sz="1400" b="0" i="0" u="none" strike="noStrike">
                <a:solidFill>
                  <a:srgbClr val="FFFFFF"/>
                </a:solidFill>
                <a:effectLst/>
                <a:latin typeface="Times New Roman"/>
                <a:cs typeface="Times New Roman"/>
              </a:rPr>
              <a:t>Office: (</a:t>
            </a:r>
            <a:r>
              <a:rPr lang="en-US" sz="1400">
                <a:solidFill>
                  <a:srgbClr val="FFFFFF"/>
                </a:solidFill>
                <a:latin typeface="Times New Roman"/>
                <a:cs typeface="Times New Roman"/>
              </a:rPr>
              <a:t>212</a:t>
            </a:r>
            <a:r>
              <a:rPr lang="en-US" sz="1400" b="0" i="0" u="none" strike="noStrike">
                <a:solidFill>
                  <a:srgbClr val="FFFFFF"/>
                </a:solidFill>
                <a:effectLst/>
                <a:latin typeface="Times New Roman"/>
                <a:cs typeface="Times New Roman"/>
              </a:rPr>
              <a:t>) </a:t>
            </a:r>
            <a:r>
              <a:rPr lang="en-US" sz="1400">
                <a:solidFill>
                  <a:srgbClr val="FFFFFF"/>
                </a:solidFill>
                <a:latin typeface="Times New Roman"/>
                <a:cs typeface="Times New Roman"/>
              </a:rPr>
              <a:t>430-5118</a:t>
            </a:r>
            <a:endParaRPr lang="en-US" sz="1400" b="0" i="0" u="none" strike="noStrike">
              <a:solidFill>
                <a:srgbClr val="000000"/>
              </a:solidFill>
              <a:effectLst/>
              <a:latin typeface="Times New Roman"/>
              <a:cs typeface="Times New Roman"/>
            </a:endParaRPr>
          </a:p>
          <a:p>
            <a:pPr algn="ctr" fontAlgn="base"/>
            <a:r>
              <a:rPr lang="en-US" sz="1400">
                <a:solidFill>
                  <a:srgbClr val="FFFFFF"/>
                </a:solidFill>
                <a:latin typeface="Times New Roman"/>
                <a:cs typeface="Times New Roman"/>
              </a:rPr>
              <a:t>Cell-Phone</a:t>
            </a:r>
            <a:r>
              <a:rPr lang="en-US" sz="1400" b="0" i="0" u="none" strike="noStrike">
                <a:solidFill>
                  <a:srgbClr val="FFFFFF"/>
                </a:solidFill>
                <a:effectLst/>
                <a:latin typeface="Times New Roman"/>
                <a:cs typeface="Times New Roman"/>
              </a:rPr>
              <a:t>: (</a:t>
            </a:r>
            <a:r>
              <a:rPr lang="en-US" sz="1400">
                <a:solidFill>
                  <a:srgbClr val="FFFFFF"/>
                </a:solidFill>
                <a:latin typeface="Times New Roman"/>
                <a:cs typeface="Times New Roman"/>
              </a:rPr>
              <a:t>347) 563-2284</a:t>
            </a:r>
            <a:endParaRPr lang="en-US" sz="1400" b="0" i="0" u="none" strike="noStrike">
              <a:solidFill>
                <a:srgbClr val="000000"/>
              </a:solidFill>
              <a:effectLst/>
              <a:latin typeface="Segoe UI" panose="020B0502040204020203" pitchFamily="34" charset="0"/>
              <a:cs typeface="Segoe UI"/>
            </a:endParaRPr>
          </a:p>
          <a:p>
            <a:pPr algn="ctr" rtl="0" fontAlgn="base"/>
            <a:r>
              <a:rPr lang="en-US" sz="1400">
                <a:solidFill>
                  <a:srgbClr val="FFFFFF"/>
                </a:solidFill>
                <a:latin typeface="Times New Roman"/>
                <a:cs typeface="Times New Roman"/>
              </a:rPr>
              <a:t>Thomas.Windels@</a:t>
            </a:r>
            <a:r>
              <a:rPr lang="en-US" sz="1400" b="0" i="0" u="none" strike="noStrike">
                <a:solidFill>
                  <a:srgbClr val="FFFFFF"/>
                </a:solidFill>
                <a:effectLst/>
                <a:latin typeface="Times New Roman"/>
                <a:cs typeface="Times New Roman"/>
              </a:rPr>
              <a:t>MarcusMillichap.com</a:t>
            </a:r>
            <a:endParaRPr lang="en-US" sz="1400">
              <a:latin typeface="Times New Roman"/>
              <a:cs typeface="Times New Roman"/>
            </a:endParaRPr>
          </a:p>
          <a:p>
            <a:pPr algn="ctr"/>
            <a:endParaRPr lang="en-US"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039031"/>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11</Slides>
  <Notes>0</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1_Office Theme</vt:lpstr>
      <vt:lpstr>PowerPoint Presentation</vt:lpstr>
      <vt:lpstr>Corporate &amp; Team Background</vt:lpstr>
      <vt:lpstr>PowerPoint Presentation</vt:lpstr>
      <vt:lpstr>PowerPoint Presentation</vt:lpstr>
      <vt:lpstr>Pricing Analysis &amp; Marketing Strategy</vt:lpstr>
      <vt:lpstr>PowerPoint Presentation</vt:lpstr>
      <vt:lpstr>PowerPoint Presentation</vt:lpstr>
      <vt:lpstr>Exit Strategies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Glaze, Margaret</dc:creator>
  <cp:revision>2</cp:revision>
  <cp:lastPrinted>2020-12-11T04:03:44Z</cp:lastPrinted>
  <dcterms:created xsi:type="dcterms:W3CDTF">2016-07-25T15:17:53Z</dcterms:created>
  <dcterms:modified xsi:type="dcterms:W3CDTF">2026-01-17T18:41:13Z</dcterms:modified>
</cp:coreProperties>
</file>